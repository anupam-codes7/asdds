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Lst>
  <p:sldSz cx="12192000" cy="6858000"/>
  <p:notesSz cx="6858000" cy="12192000"/>
  <p:embeddedFontLst>
    <p:embeddedFont>
      <p:font typeface="Abadi" panose="020B0604020104020204"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font" Target="fonts/font2.fntdata"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1.fntdata"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961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898C3-D00E-3B6F-2B04-A099EBDF9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FC643-54BB-D38E-E5D0-C273B35D8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50026-C835-56D6-A38D-050296BAAF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6D139F-B361-47CF-7EED-EA856054264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14453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C7BDD-AD64-2DC2-5A39-6DDC19DEB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29B20-B3BB-1125-BFFB-4DF46DB6F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E5FC9-086B-BF47-9D9E-CE051C130D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A7E33E-BCE4-6BE2-18BE-BABAD045EEC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30960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1620">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2.xml" /><Relationship Id="rId5" Type="http://schemas.openxmlformats.org/officeDocument/2006/relationships/image" Target="../media/image4.svg"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2.xml" /><Relationship Id="rId1" Type="http://schemas.openxmlformats.org/officeDocument/2006/relationships/slideLayout" Target="../slideLayouts/slideLayout2.xml" /><Relationship Id="rId4" Type="http://schemas.openxmlformats.org/officeDocument/2006/relationships/image" Target="../media/image6.png" /></Relationships>
</file>

<file path=ppt/slides/_rels/slide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3.xml" /><Relationship Id="rId1" Type="http://schemas.openxmlformats.org/officeDocument/2006/relationships/slideLayout" Target="../slideLayouts/slideLayout2.xml" /><Relationship Id="rId4" Type="http://schemas.openxmlformats.org/officeDocument/2006/relationships/image" Target="../media/image8.png" /></Relationships>
</file>

<file path=ppt/slides/_rels/slide4.xml.rels><?xml version="1.0" encoding="UTF-8" standalone="yes"?>
<Relationships xmlns="http://schemas.openxmlformats.org/package/2006/relationships"><Relationship Id="rId8" Type="http://schemas.openxmlformats.org/officeDocument/2006/relationships/image" Target="../media/image14.svg" /><Relationship Id="rId3" Type="http://schemas.openxmlformats.org/officeDocument/2006/relationships/image" Target="../media/image9.svg" /><Relationship Id="rId7" Type="http://schemas.openxmlformats.org/officeDocument/2006/relationships/image" Target="../media/image13.svg" /><Relationship Id="rId2" Type="http://schemas.openxmlformats.org/officeDocument/2006/relationships/notesSlide" Target="../notesSlides/notesSlide4.xml" /><Relationship Id="rId1" Type="http://schemas.openxmlformats.org/officeDocument/2006/relationships/slideLayout" Target="../slideLayouts/slideLayout2.xml" /><Relationship Id="rId6" Type="http://schemas.openxmlformats.org/officeDocument/2006/relationships/image" Target="../media/image12.svg" /><Relationship Id="rId5" Type="http://schemas.openxmlformats.org/officeDocument/2006/relationships/image" Target="../media/image11.svg" /><Relationship Id="rId4" Type="http://schemas.openxmlformats.org/officeDocument/2006/relationships/image" Target="../media/image10.svg" /><Relationship Id="rId9" Type="http://schemas.openxmlformats.org/officeDocument/2006/relationships/image" Target="../media/image15.svg"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16.jpe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notesSlide" Target="../notesSlides/notesSlide7.xml" /><Relationship Id="rId1" Type="http://schemas.openxmlformats.org/officeDocument/2006/relationships/slideLayout" Target="../slideLayouts/slideLayout2.xml" /><Relationship Id="rId5" Type="http://schemas.openxmlformats.org/officeDocument/2006/relationships/image" Target="../media/image19.svg" /><Relationship Id="rId4" Type="http://schemas.openxmlformats.org/officeDocument/2006/relationships/image" Target="../media/image18.svg" /></Relationships>
</file>

<file path=ppt/slides/_rels/slide8.xml.rels><?xml version="1.0" encoding="UTF-8" standalone="yes"?>
<Relationships xmlns="http://schemas.openxmlformats.org/package/2006/relationships"><Relationship Id="rId3" Type="http://schemas.openxmlformats.org/officeDocument/2006/relationships/image" Target="../media/image20.svg" /><Relationship Id="rId2" Type="http://schemas.openxmlformats.org/officeDocument/2006/relationships/notesSlide" Target="../notesSlides/notesSlide8.xml" /><Relationship Id="rId1" Type="http://schemas.openxmlformats.org/officeDocument/2006/relationships/slideLayout" Target="../slideLayouts/slideLayout2.xml" /><Relationship Id="rId4" Type="http://schemas.openxmlformats.org/officeDocument/2006/relationships/image" Target="../media/image21.svg" /></Relationships>
</file>

<file path=ppt/slides/_rels/slide9.xml.rels><?xml version="1.0" encoding="UTF-8" standalone="yes"?>
<Relationships xmlns="http://schemas.openxmlformats.org/package/2006/relationships"><Relationship Id="rId8" Type="http://schemas.openxmlformats.org/officeDocument/2006/relationships/image" Target="../media/image27.png" /><Relationship Id="rId3" Type="http://schemas.openxmlformats.org/officeDocument/2006/relationships/image" Target="../media/image22.png" /><Relationship Id="rId7" Type="http://schemas.openxmlformats.org/officeDocument/2006/relationships/image" Target="../media/image26.png" /><Relationship Id="rId2" Type="http://schemas.openxmlformats.org/officeDocument/2006/relationships/notesSlide" Target="../notesSlides/notesSlide9.xml" /><Relationship Id="rId1" Type="http://schemas.openxmlformats.org/officeDocument/2006/relationships/slideLayout" Target="../slideLayouts/slideLayout2.xml" /><Relationship Id="rId6" Type="http://schemas.openxmlformats.org/officeDocument/2006/relationships/image" Target="../media/image25.png" /><Relationship Id="rId5" Type="http://schemas.openxmlformats.org/officeDocument/2006/relationships/image" Target="../media/image24.png" /><Relationship Id="rId4" Type="http://schemas.openxmlformats.org/officeDocument/2006/relationships/image" Target="../media/image23.png" /></Relationships>
</file>

<file path=ppt/slides/_rels/slide10.xml.rels><?xml version="1.0" encoding="UTF-8" standalone="yes"?>
<Relationships xmlns="http://schemas.openxmlformats.org/package/2006/relationships"><Relationship Id="rId3" Type="http://schemas.openxmlformats.org/officeDocument/2006/relationships/image" Target="../media/image28.svg" /><Relationship Id="rId2" Type="http://schemas.openxmlformats.org/officeDocument/2006/relationships/notesSlide" Target="../notesSlides/notesSlide10.xml" /><Relationship Id="rId1" Type="http://schemas.openxmlformats.org/officeDocument/2006/relationships/slideLayout" Target="../slideLayouts/slideLayout2.xml" /><Relationship Id="rId4" Type="http://schemas.openxmlformats.org/officeDocument/2006/relationships/image" Target="../media/image29.svg" /></Relationships>
</file>

<file path=ppt/slides/_rels/slide11.xml.rels><?xml version="1.0" encoding="UTF-8" standalone="yes"?>
<Relationships xmlns="http://schemas.openxmlformats.org/package/2006/relationships"><Relationship Id="rId3" Type="http://schemas.openxmlformats.org/officeDocument/2006/relationships/image" Target="../media/image28.sv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pic>
        <p:nvPicPr>
          <p:cNvPr id="3" name="Image 1" descr="preencoded.png"/>
          <p:cNvPicPr>
            <a:picLocks noChangeAspect="1"/>
          </p:cNvPicPr>
          <p:nvPr/>
        </p:nvPicPr>
        <p:blipFill>
          <a:blip r:embed="rId4"/>
          <a:stretch>
            <a:fillRect/>
          </a:stretch>
        </p:blipFill>
        <p:spPr>
          <a:xfrm>
            <a:off x="8590839" y="1091406"/>
            <a:ext cx="3506303" cy="4675188"/>
          </a:xfrm>
          <a:prstGeom prst="rect">
            <a:avLst/>
          </a:prstGeom>
        </p:spPr>
      </p:pic>
      <p:sp>
        <p:nvSpPr>
          <p:cNvPr id="4" name="Shape 0"/>
          <p:cNvSpPr/>
          <p:nvPr/>
        </p:nvSpPr>
        <p:spPr>
          <a:xfrm>
            <a:off x="661475" y="738088"/>
            <a:ext cx="966962" cy="287139"/>
          </a:xfrm>
          <a:prstGeom prst="roundRect">
            <a:avLst>
              <a:gd name="adj" fmla="val 22118"/>
            </a:avLst>
          </a:prstGeom>
          <a:noFill/>
          <a:ln w="12700">
            <a:solidFill>
              <a:srgbClr val="6296FF"/>
            </a:solidFill>
            <a:prstDash val="solid"/>
          </a:ln>
        </p:spPr>
      </p:sp>
      <p:sp>
        <p:nvSpPr>
          <p:cNvPr id="5" name="Text 1"/>
          <p:cNvSpPr/>
          <p:nvPr/>
        </p:nvSpPr>
        <p:spPr>
          <a:xfrm>
            <a:off x="774879" y="794742"/>
            <a:ext cx="1349738" cy="173831"/>
          </a:xfrm>
          <a:prstGeom prst="rect">
            <a:avLst/>
          </a:prstGeom>
          <a:noFill/>
          <a:ln/>
        </p:spPr>
        <p:txBody>
          <a:bodyPr wrap="none" lIns="0" tIns="0" rIns="0" bIns="0" rtlCol="0" anchor="t"/>
          <a:lstStyle/>
          <a:p>
            <a:pPr marL="0" indent="0" algn="l">
              <a:lnSpc>
                <a:spcPct val="96000"/>
              </a:lnSpc>
              <a:buNone/>
            </a:pPr>
            <a:r>
              <a:rPr lang="en-US" sz="1150" dirty="0">
                <a:solidFill>
                  <a:srgbClr val="6296FF"/>
                </a:solidFill>
                <a:latin typeface="Abadi" panose="020B0604020104020204" pitchFamily="34" charset="0"/>
                <a:ea typeface="Geist" pitchFamily="34" charset="-122"/>
                <a:cs typeface="Geist" pitchFamily="34" charset="-120"/>
              </a:rPr>
              <a:t>ROBOTICS</a:t>
            </a:r>
            <a:endParaRPr lang="en-US" sz="1150" dirty="0"/>
          </a:p>
        </p:txBody>
      </p:sp>
      <p:sp>
        <p:nvSpPr>
          <p:cNvPr id="6" name="Shape 2"/>
          <p:cNvSpPr/>
          <p:nvPr/>
        </p:nvSpPr>
        <p:spPr>
          <a:xfrm>
            <a:off x="1722890" y="738088"/>
            <a:ext cx="1982539" cy="287139"/>
          </a:xfrm>
          <a:prstGeom prst="roundRect">
            <a:avLst>
              <a:gd name="adj" fmla="val 22118"/>
            </a:avLst>
          </a:prstGeom>
          <a:noFill/>
          <a:ln w="12700">
            <a:solidFill>
              <a:srgbClr val="6296FF"/>
            </a:solidFill>
            <a:prstDash val="solid"/>
          </a:ln>
        </p:spPr>
      </p:sp>
      <p:sp>
        <p:nvSpPr>
          <p:cNvPr id="7" name="Text 3"/>
          <p:cNvSpPr/>
          <p:nvPr/>
        </p:nvSpPr>
        <p:spPr>
          <a:xfrm>
            <a:off x="1836295" y="794742"/>
            <a:ext cx="2365316" cy="173831"/>
          </a:xfrm>
          <a:prstGeom prst="rect">
            <a:avLst/>
          </a:prstGeom>
          <a:noFill/>
          <a:ln/>
        </p:spPr>
        <p:txBody>
          <a:bodyPr wrap="none" lIns="0" tIns="0" rIns="0" bIns="0" rtlCol="0" anchor="t"/>
          <a:lstStyle/>
          <a:p>
            <a:pPr marL="0" indent="0" algn="l">
              <a:lnSpc>
                <a:spcPct val="96000"/>
              </a:lnSpc>
              <a:buNone/>
            </a:pPr>
            <a:r>
              <a:rPr lang="en-US" sz="1150" dirty="0">
                <a:solidFill>
                  <a:srgbClr val="6296FF"/>
                </a:solidFill>
                <a:latin typeface="Abadi" panose="020B0604020104020204" pitchFamily="34" charset="0"/>
                <a:ea typeface="Geist" pitchFamily="34" charset="-122"/>
                <a:cs typeface="Geist" pitchFamily="34" charset="-120"/>
              </a:rPr>
              <a:t>AUTONOMOUS SYSTEMS</a:t>
            </a:r>
            <a:endParaRPr lang="en-US" sz="1150" dirty="0"/>
          </a:p>
        </p:txBody>
      </p:sp>
      <p:sp>
        <p:nvSpPr>
          <p:cNvPr id="8" name="Text 4"/>
          <p:cNvSpPr/>
          <p:nvPr/>
        </p:nvSpPr>
        <p:spPr>
          <a:xfrm>
            <a:off x="661475" y="1100832"/>
            <a:ext cx="6296860" cy="614263"/>
          </a:xfrm>
          <a:prstGeom prst="rect">
            <a:avLst/>
          </a:prstGeom>
          <a:noFill/>
          <a:ln/>
        </p:spPr>
        <p:txBody>
          <a:bodyPr wrap="none" lIns="0" tIns="0" rIns="0" bIns="0" rtlCol="0" anchor="t"/>
          <a:lstStyle/>
          <a:p>
            <a:pPr marL="0" indent="0" algn="l">
              <a:lnSpc>
                <a:spcPct val="108000"/>
              </a:lnSpc>
              <a:buNone/>
            </a:pPr>
            <a:r>
              <a:rPr lang="en-US" sz="3700" b="1" kern="0" spc="-74" dirty="0">
                <a:solidFill>
                  <a:srgbClr val="F2F5FA"/>
                </a:solidFill>
                <a:latin typeface="Abadi" panose="020B0604020104020204" pitchFamily="34" charset="0"/>
                <a:ea typeface="Geist Bold" pitchFamily="34" charset="-122"/>
                <a:cs typeface="Geist Bold" pitchFamily="34" charset="-120"/>
              </a:rPr>
              <a:t>Sensor-Based Navigation</a:t>
            </a:r>
            <a:endParaRPr lang="en-US" sz="3700" dirty="0"/>
          </a:p>
        </p:txBody>
      </p:sp>
      <p:sp>
        <p:nvSpPr>
          <p:cNvPr id="9" name="Text 5"/>
          <p:cNvSpPr/>
          <p:nvPr/>
        </p:nvSpPr>
        <p:spPr>
          <a:xfrm>
            <a:off x="661475" y="1998563"/>
            <a:ext cx="6906444" cy="245666"/>
          </a:xfrm>
          <a:prstGeom prst="rect">
            <a:avLst/>
          </a:prstGeom>
          <a:noFill/>
          <a:ln/>
        </p:spPr>
        <p:txBody>
          <a:bodyPr wrap="none" lIns="0" tIns="0" rIns="0" bIns="0" rtlCol="0" anchor="t"/>
          <a:lstStyle/>
          <a:p>
            <a:pPr marL="0" indent="0" algn="l">
              <a:lnSpc>
                <a:spcPct val="108000"/>
              </a:lnSpc>
              <a:buNone/>
            </a:pPr>
            <a:r>
              <a:rPr lang="en-US" sz="1450" b="1" dirty="0">
                <a:solidFill>
                  <a:srgbClr val="EBEDF0"/>
                </a:solidFill>
                <a:latin typeface="Abadi" panose="020B0604020104020204" pitchFamily="34" charset="0"/>
                <a:ea typeface="Geist Bold" pitchFamily="34" charset="-122"/>
                <a:cs typeface="Geist Bold" pitchFamily="34" charset="-120"/>
              </a:rPr>
              <a:t>An Academic Study of Autonomous Navigation Systems</a:t>
            </a:r>
            <a:endParaRPr lang="en-US" sz="14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4543" y="2517713"/>
            <a:ext cx="6296860" cy="3057538"/>
          </a:xfrm>
          <a:prstGeom prst="rect">
            <a:avLst/>
          </a:prstGeom>
        </p:spPr>
      </p:pic>
      <p:sp>
        <p:nvSpPr>
          <p:cNvPr id="11" name="Text 6"/>
          <p:cNvSpPr/>
          <p:nvPr/>
        </p:nvSpPr>
        <p:spPr>
          <a:xfrm>
            <a:off x="977479" y="2768013"/>
            <a:ext cx="5766449" cy="307082"/>
          </a:xfrm>
          <a:prstGeom prst="rect">
            <a:avLst/>
          </a:prstGeom>
          <a:noFill/>
          <a:ln/>
        </p:spPr>
        <p:txBody>
          <a:bodyPr wrap="none" lIns="0" tIns="0" rIns="0" bIns="0" rtlCol="0" anchor="t"/>
          <a:lstStyle/>
          <a:p>
            <a:pPr marL="0" indent="0" algn="l">
              <a:lnSpc>
                <a:spcPct val="108000"/>
              </a:lnSpc>
              <a:buNone/>
            </a:pPr>
            <a:r>
              <a:rPr lang="en-US" sz="2000" b="1" kern="0" spc="-37" dirty="0">
                <a:solidFill>
                  <a:srgbClr val="EBEDF0"/>
                </a:solidFill>
                <a:latin typeface="Abadi" panose="020B0604020104020204" pitchFamily="34" charset="0"/>
                <a:ea typeface="Geist Bold" pitchFamily="34" charset="-122"/>
                <a:cs typeface="Geist Bold" pitchFamily="34" charset="-120"/>
              </a:rPr>
              <a:t>Prepared by</a:t>
            </a:r>
            <a:endParaRPr lang="en-US" sz="2000" dirty="0"/>
          </a:p>
        </p:txBody>
      </p:sp>
      <p:sp>
        <p:nvSpPr>
          <p:cNvPr id="12" name="Text 7"/>
          <p:cNvSpPr/>
          <p:nvPr/>
        </p:nvSpPr>
        <p:spPr>
          <a:xfrm>
            <a:off x="926680" y="3325394"/>
            <a:ext cx="5766449" cy="1909454"/>
          </a:xfrm>
          <a:prstGeom prst="rect">
            <a:avLst/>
          </a:prstGeom>
          <a:noFill/>
          <a:ln/>
        </p:spPr>
        <p:txBody>
          <a:bodyPr wrap="none" lIns="0" tIns="0" rIns="0" bIns="0" rtlCol="0" anchor="t"/>
          <a:lstStyle/>
          <a:p>
            <a:pPr marL="0" indent="0" algn="l">
              <a:lnSpc>
                <a:spcPct val="108000"/>
              </a:lnSpc>
              <a:buNone/>
            </a:pPr>
            <a:r>
              <a:rPr lang="en-US" sz="1600" dirty="0">
                <a:solidFill>
                  <a:srgbClr val="EBEDF0"/>
                </a:solidFill>
                <a:latin typeface="Abadi" panose="020B0604020104020204" pitchFamily="34" charset="0"/>
                <a:ea typeface="Geist" pitchFamily="34" charset="-122"/>
                <a:cs typeface="Geist" pitchFamily="34" charset="-120"/>
              </a:rPr>
              <a:t>ADITYA KATHANE :-27</a:t>
            </a:r>
          </a:p>
          <a:p>
            <a:pPr marL="0" indent="0" algn="l">
              <a:lnSpc>
                <a:spcPct val="108000"/>
              </a:lnSpc>
              <a:buNone/>
            </a:pPr>
            <a:r>
              <a:rPr lang="en-US" sz="1600" dirty="0">
                <a:solidFill>
                  <a:srgbClr val="EBEDF0"/>
                </a:solidFill>
                <a:latin typeface="Abadi" panose="020B0604020104020204" pitchFamily="34" charset="0"/>
                <a:ea typeface="Geist" pitchFamily="34" charset="-122"/>
                <a:cs typeface="Geist" pitchFamily="34" charset="-120"/>
              </a:rPr>
              <a:t>YASHRAJ KENGAR:-28</a:t>
            </a:r>
          </a:p>
          <a:p>
            <a:pPr marL="0" indent="0" algn="l">
              <a:lnSpc>
                <a:spcPct val="108000"/>
              </a:lnSpc>
              <a:buNone/>
            </a:pPr>
            <a:r>
              <a:rPr lang="en-US" sz="1600" dirty="0">
                <a:solidFill>
                  <a:srgbClr val="EBEDF0"/>
                </a:solidFill>
                <a:latin typeface="Abadi" panose="020B0604020104020204" pitchFamily="34" charset="0"/>
                <a:ea typeface="Geist" pitchFamily="34" charset="-122"/>
                <a:cs typeface="Geist" pitchFamily="34" charset="-120"/>
              </a:rPr>
              <a:t>PRIYANSHU YADAV:-67</a:t>
            </a:r>
          </a:p>
          <a:p>
            <a:pPr marL="0" indent="0" algn="l">
              <a:lnSpc>
                <a:spcPct val="108000"/>
              </a:lnSpc>
              <a:buNone/>
            </a:pPr>
            <a:r>
              <a:rPr lang="en-US" sz="1600" dirty="0">
                <a:solidFill>
                  <a:srgbClr val="EBEDF0"/>
                </a:solidFill>
                <a:latin typeface="Abadi" panose="020B0604020104020204" pitchFamily="34" charset="0"/>
                <a:ea typeface="Geist" pitchFamily="34" charset="-122"/>
                <a:cs typeface="Geist" pitchFamily="34" charset="-120"/>
              </a:rPr>
              <a:t>NAVEEN YADAV:-68</a:t>
            </a:r>
          </a:p>
          <a:p>
            <a:pPr marL="0" indent="0" algn="l">
              <a:lnSpc>
                <a:spcPct val="108000"/>
              </a:lnSpc>
              <a:buNone/>
            </a:pPr>
            <a:r>
              <a:rPr lang="en-US" sz="1600" dirty="0">
                <a:solidFill>
                  <a:srgbClr val="EBEDF0"/>
                </a:solidFill>
                <a:latin typeface="Abadi" panose="020B0604020104020204" pitchFamily="34" charset="0"/>
                <a:ea typeface="Geist" pitchFamily="34" charset="-122"/>
                <a:cs typeface="Geist" pitchFamily="34" charset="-120"/>
              </a:rPr>
              <a:t>MOHIT YEOLE:-69</a:t>
            </a:r>
          </a:p>
          <a:p>
            <a:pPr marL="0" indent="0" algn="l">
              <a:lnSpc>
                <a:spcPct val="108000"/>
              </a:lnSpc>
              <a:buNone/>
            </a:pPr>
            <a:endParaRPr lang="en-US" sz="1600" dirty="0">
              <a:solidFill>
                <a:srgbClr val="EBEDF0"/>
              </a:solidFill>
              <a:latin typeface="Abadi" panose="020B0604020104020204" pitchFamily="34" charset="0"/>
              <a:ea typeface="Geist" pitchFamily="34" charset="-122"/>
              <a:cs typeface="Geist" pitchFamily="34" charset="-120"/>
            </a:endParaRPr>
          </a:p>
          <a:p>
            <a:pPr marL="0" indent="0" algn="l">
              <a:lnSpc>
                <a:spcPct val="108000"/>
              </a:lnSpc>
              <a:buNone/>
            </a:pP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015305"/>
            <a:ext cx="10868745" cy="614263"/>
          </a:xfrm>
          <a:prstGeom prst="rect">
            <a:avLst/>
          </a:prstGeom>
          <a:noFill/>
          <a:ln/>
        </p:spPr>
        <p:txBody>
          <a:bodyPr wrap="none" lIns="0" tIns="0" rIns="0" bIns="0" rtlCol="0" anchor="t"/>
          <a:lstStyle/>
          <a:p>
            <a:pPr marL="0" indent="0" algn="l">
              <a:lnSpc>
                <a:spcPct val="108000"/>
              </a:lnSpc>
              <a:buNone/>
            </a:pPr>
            <a:r>
              <a:rPr lang="en-US" sz="3700" b="1" kern="0" spc="-74" dirty="0">
                <a:solidFill>
                  <a:srgbClr val="F2F5FA"/>
                </a:solidFill>
                <a:latin typeface="Abadi" panose="020B0604020104020204" pitchFamily="34" charset="0"/>
                <a:ea typeface="Geist Bold" pitchFamily="34" charset="-122"/>
                <a:cs typeface="Geist Bold" pitchFamily="34" charset="-120"/>
              </a:rPr>
              <a:t>What is Sensor-Based Navigation?</a:t>
            </a:r>
            <a:endParaRPr lang="en-US" sz="3700" dirty="0">
              <a:latin typeface="Abadi" panose="020B0604020104020204" pitchFamily="34" charset="0"/>
            </a:endParaRPr>
          </a:p>
        </p:txBody>
      </p:sp>
      <p:pic>
        <p:nvPicPr>
          <p:cNvPr id="3" name="Image 0" descr="preencoded.png"/>
          <p:cNvPicPr>
            <a:picLocks noChangeAspect="1"/>
          </p:cNvPicPr>
          <p:nvPr/>
        </p:nvPicPr>
        <p:blipFill>
          <a:blip r:embed="rId3"/>
          <a:stretch>
            <a:fillRect/>
          </a:stretch>
        </p:blipFill>
        <p:spPr>
          <a:xfrm>
            <a:off x="661475" y="2125663"/>
            <a:ext cx="3504219" cy="3504307"/>
          </a:xfrm>
          <a:prstGeom prst="rect">
            <a:avLst/>
          </a:prstGeom>
        </p:spPr>
      </p:pic>
      <p:sp>
        <p:nvSpPr>
          <p:cNvPr id="4" name="Text 1"/>
          <p:cNvSpPr/>
          <p:nvPr/>
        </p:nvSpPr>
        <p:spPr>
          <a:xfrm>
            <a:off x="4626951" y="2084047"/>
            <a:ext cx="6903269" cy="2059781"/>
          </a:xfrm>
          <a:prstGeom prst="rect">
            <a:avLst/>
          </a:prstGeom>
          <a:noFill/>
          <a:ln/>
        </p:spPr>
        <p:txBody>
          <a:bodyPr wrap="square" lIns="0" tIns="0" rIns="0" bIns="0" rtlCol="0" anchor="t">
            <a:normAutofit lnSpcReduction="10000"/>
          </a:bodyPr>
          <a:lstStyle/>
          <a:p>
            <a:pPr marL="0" indent="0" algn="l">
              <a:lnSpc>
                <a:spcPct val="108000"/>
              </a:lnSpc>
              <a:spcAft>
                <a:spcPts val="1300"/>
              </a:spcAft>
              <a:buNone/>
            </a:pPr>
            <a:r>
              <a:rPr lang="en-US" sz="1600" b="1" dirty="0">
                <a:solidFill>
                  <a:srgbClr val="EBEDF0"/>
                </a:solidFill>
                <a:latin typeface="Abadi" panose="020B0604020104020204" pitchFamily="34" charset="0"/>
                <a:ea typeface="Geist Bold" pitchFamily="34" charset="-122"/>
                <a:cs typeface="Geist Bold" pitchFamily="34" charset="-120"/>
              </a:rPr>
              <a:t>Navigation</a:t>
            </a:r>
            <a:r>
              <a:rPr lang="en-US" sz="1600" dirty="0">
                <a:solidFill>
                  <a:srgbClr val="EBEDF0"/>
                </a:solidFill>
                <a:latin typeface="Abadi" panose="020B0604020104020204" pitchFamily="34" charset="0"/>
                <a:ea typeface="Geist" pitchFamily="34" charset="-122"/>
                <a:cs typeface="Geist" pitchFamily="34" charset="-120"/>
              </a:rPr>
              <a:t> refers to the process of determining position and moving from one location to another with precision and control.</a:t>
            </a:r>
            <a:endParaRPr lang="en-US" sz="1600" dirty="0"/>
          </a:p>
          <a:p>
            <a:pPr marL="0" indent="0" algn="l">
              <a:lnSpc>
                <a:spcPct val="108000"/>
              </a:lnSpc>
              <a:spcAft>
                <a:spcPts val="1300"/>
              </a:spcAft>
              <a:buNone/>
            </a:pPr>
            <a:r>
              <a:rPr lang="en-US" sz="1600" b="1" dirty="0">
                <a:solidFill>
                  <a:srgbClr val="EBEDF0"/>
                </a:solidFill>
                <a:latin typeface="Abadi" panose="020B0604020104020204" pitchFamily="34" charset="0"/>
                <a:ea typeface="Geist Bold" pitchFamily="34" charset="-122"/>
                <a:cs typeface="Geist Bold" pitchFamily="34" charset="-120"/>
              </a:rPr>
              <a:t>Sensor-based navigation</a:t>
            </a:r>
            <a:r>
              <a:rPr lang="en-US" sz="1600" dirty="0">
                <a:solidFill>
                  <a:srgbClr val="EBEDF0"/>
                </a:solidFill>
                <a:latin typeface="Abadi" panose="020B0604020104020204" pitchFamily="34" charset="0"/>
                <a:ea typeface="Geist" pitchFamily="34" charset="-122"/>
                <a:cs typeface="Geist" pitchFamily="34" charset="-120"/>
              </a:rPr>
              <a:t> enables autonomous systems to perceive their environment in real time and make intelligent decisions without human intervention.</a:t>
            </a:r>
            <a:endParaRPr lang="en-US" sz="1600" dirty="0"/>
          </a:p>
          <a:p>
            <a:pPr marL="0" indent="0" algn="l">
              <a:lnSpc>
                <a:spcPct val="108000"/>
              </a:lnSpc>
              <a:buNone/>
            </a:pPr>
            <a:r>
              <a:rPr lang="en-US" sz="1600" b="1" dirty="0">
                <a:solidFill>
                  <a:srgbClr val="EBEDF0"/>
                </a:solidFill>
                <a:latin typeface="Abadi" panose="020B0604020104020204" pitchFamily="34" charset="0"/>
                <a:ea typeface="Geist Bold" pitchFamily="34" charset="-122"/>
                <a:cs typeface="Geist Bold" pitchFamily="34" charset="-120"/>
              </a:rPr>
              <a:t>Sensors</a:t>
            </a:r>
            <a:r>
              <a:rPr lang="en-US" sz="1600" dirty="0">
                <a:solidFill>
                  <a:srgbClr val="EBEDF0"/>
                </a:solidFill>
                <a:latin typeface="Abadi" panose="020B0604020104020204" pitchFamily="34" charset="0"/>
                <a:ea typeface="Geist" pitchFamily="34" charset="-122"/>
                <a:cs typeface="Geist" pitchFamily="34" charset="-120"/>
              </a:rPr>
              <a:t> provide the critical input that allows machines to interpret their surroundings, detect obstacles, and adapt to dynamic environments.</a:t>
            </a:r>
            <a:endParaRPr lang="en-US" sz="1600" dirty="0"/>
          </a:p>
        </p:txBody>
      </p:sp>
      <p:sp>
        <p:nvSpPr>
          <p:cNvPr id="5" name="Shape 2"/>
          <p:cNvSpPr/>
          <p:nvPr/>
        </p:nvSpPr>
        <p:spPr>
          <a:xfrm>
            <a:off x="4633201" y="4355505"/>
            <a:ext cx="6903269" cy="680244"/>
          </a:xfrm>
          <a:prstGeom prst="roundRect">
            <a:avLst>
              <a:gd name="adj" fmla="val 11670"/>
            </a:avLst>
          </a:prstGeom>
          <a:solidFill>
            <a:srgbClr val="002A80"/>
          </a:solidFill>
          <a:ln/>
        </p:spPr>
      </p:sp>
      <p:pic>
        <p:nvPicPr>
          <p:cNvPr id="6" name="Image 1" descr="preencoded.png"/>
          <p:cNvPicPr>
            <a:picLocks noChangeAspect="1"/>
          </p:cNvPicPr>
          <p:nvPr/>
        </p:nvPicPr>
        <p:blipFill>
          <a:blip r:embed="rId4"/>
          <a:stretch>
            <a:fillRect/>
          </a:stretch>
        </p:blipFill>
        <p:spPr>
          <a:xfrm>
            <a:off x="4822208" y="4610497"/>
            <a:ext cx="236234" cy="189012"/>
          </a:xfrm>
          <a:prstGeom prst="rect">
            <a:avLst/>
          </a:prstGeom>
        </p:spPr>
      </p:pic>
      <p:sp>
        <p:nvSpPr>
          <p:cNvPr id="7" name="Text 3"/>
          <p:cNvSpPr/>
          <p:nvPr/>
        </p:nvSpPr>
        <p:spPr>
          <a:xfrm>
            <a:off x="5247449" y="4572794"/>
            <a:ext cx="6709599" cy="245666"/>
          </a:xfrm>
          <a:prstGeom prst="rect">
            <a:avLst/>
          </a:prstGeom>
          <a:noFill/>
          <a:ln/>
        </p:spPr>
        <p:txBody>
          <a:bodyPr wrap="none" lIns="0" tIns="0" rIns="0" bIns="0" rtlCol="0" anchor="t"/>
          <a:lstStyle/>
          <a:p>
            <a:pPr marL="0" indent="0" algn="l">
              <a:lnSpc>
                <a:spcPct val="108000"/>
              </a:lnSpc>
              <a:buNone/>
            </a:pPr>
            <a:r>
              <a:rPr lang="en-US" sz="1600" b="1" dirty="0">
                <a:solidFill>
                  <a:srgbClr val="FFFFFF"/>
                </a:solidFill>
                <a:latin typeface="Abadi" panose="020B0604020104020204" pitchFamily="34" charset="0"/>
                <a:ea typeface="Geist Bold" pitchFamily="34" charset="-122"/>
                <a:cs typeface="Geist Bold" pitchFamily="34" charset="-120"/>
              </a:rPr>
              <a:t>Key Process:</a:t>
            </a:r>
            <a:r>
              <a:rPr lang="en-US" sz="1600" dirty="0">
                <a:solidFill>
                  <a:srgbClr val="FFFFFF"/>
                </a:solidFill>
                <a:latin typeface="Abadi" panose="020B0604020104020204" pitchFamily="34" charset="0"/>
                <a:ea typeface="Geist" pitchFamily="34" charset="-122"/>
                <a:cs typeface="Geist" pitchFamily="34" charset="-120"/>
              </a:rPr>
              <a:t> Sense → Process → Decide → Move</a:t>
            </a:r>
            <a:endParaRPr lang="en-US" sz="1600" dirty="0"/>
          </a:p>
        </p:txBody>
      </p:sp>
      <p:sp>
        <p:nvSpPr>
          <p:cNvPr id="8" name="Text 4"/>
          <p:cNvSpPr/>
          <p:nvPr/>
        </p:nvSpPr>
        <p:spPr>
          <a:xfrm>
            <a:off x="4633201" y="5248374"/>
            <a:ext cx="7512854" cy="245666"/>
          </a:xfrm>
          <a:prstGeom prst="rect">
            <a:avLst/>
          </a:prstGeom>
          <a:noFill/>
          <a:ln/>
        </p:spPr>
        <p:txBody>
          <a:bodyPr wrap="none" lIns="0" tIns="0" rIns="0" bIns="0" rtlCol="0" anchor="t"/>
          <a:lstStyle/>
          <a:p>
            <a:pPr marL="0" indent="0" algn="l">
              <a:lnSpc>
                <a:spcPct val="108000"/>
              </a:lnSpc>
              <a:buNone/>
            </a:pPr>
            <a:r>
              <a:rPr lang="en-US" sz="1600" dirty="0">
                <a:solidFill>
                  <a:srgbClr val="EBEDF0"/>
                </a:solidFill>
                <a:latin typeface="Abadi" panose="020B0604020104020204" pitchFamily="34" charset="0"/>
                <a:ea typeface="Geist" pitchFamily="34" charset="-122"/>
                <a:cs typeface="Geist" pitchFamily="34" charset="-120"/>
              </a:rPr>
              <a:t>This capability is fundamental to modern robotics and autonomous systems.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685105"/>
            <a:ext cx="10868745" cy="399256"/>
          </a:xfrm>
          <a:prstGeom prst="rect">
            <a:avLst/>
          </a:prstGeom>
          <a:noFill/>
          <a:ln/>
        </p:spPr>
        <p:txBody>
          <a:bodyPr wrap="none" lIns="0" tIns="0" rIns="0" bIns="0" rtlCol="0" anchor="t"/>
          <a:lstStyle/>
          <a:p>
            <a:pPr marL="0" indent="0" algn="l">
              <a:lnSpc>
                <a:spcPct val="108000"/>
              </a:lnSpc>
              <a:buNone/>
            </a:pPr>
            <a:r>
              <a:rPr lang="en-US" sz="2400" b="1" kern="0" spc="-48" dirty="0">
                <a:solidFill>
                  <a:srgbClr val="F2F5FA"/>
                </a:solidFill>
                <a:latin typeface="Abadi" panose="020B0604020104020204" pitchFamily="34" charset="0"/>
                <a:ea typeface="Geist Bold" pitchFamily="34" charset="-122"/>
                <a:cs typeface="Geist Bold" pitchFamily="34" charset="-120"/>
              </a:rPr>
              <a:t>How Sensors Help Machines Navigate</a:t>
            </a:r>
            <a:endParaRPr lang="en-US" sz="2400" dirty="0"/>
          </a:p>
        </p:txBody>
      </p:sp>
      <p:pic>
        <p:nvPicPr>
          <p:cNvPr id="3" name="Image 0" descr="preencoded.png"/>
          <p:cNvPicPr>
            <a:picLocks noChangeAspect="1"/>
          </p:cNvPicPr>
          <p:nvPr/>
        </p:nvPicPr>
        <p:blipFill>
          <a:blip r:embed="rId3"/>
          <a:stretch>
            <a:fillRect/>
          </a:stretch>
        </p:blipFill>
        <p:spPr>
          <a:xfrm>
            <a:off x="2099388" y="1244005"/>
            <a:ext cx="7415650" cy="2244229"/>
          </a:xfrm>
          <a:prstGeom prst="rect">
            <a:avLst/>
          </a:prstGeom>
        </p:spPr>
      </p:pic>
      <p:sp>
        <p:nvSpPr>
          <p:cNvPr id="4" name="Text 1"/>
          <p:cNvSpPr/>
          <p:nvPr/>
        </p:nvSpPr>
        <p:spPr>
          <a:xfrm>
            <a:off x="8165143" y="2879128"/>
            <a:ext cx="1031415" cy="206641"/>
          </a:xfrm>
          <a:prstGeom prst="rect">
            <a:avLst/>
          </a:prstGeom>
          <a:noFill/>
          <a:ln/>
        </p:spPr>
        <p:txBody>
          <a:bodyPr wrap="none" lIns="0" tIns="0" rIns="0" bIns="0" rtlCol="0" anchor="t"/>
          <a:lstStyle/>
          <a:p>
            <a:pPr marL="0" indent="0" algn="ctr">
              <a:lnSpc>
                <a:spcPct val="108000"/>
              </a:lnSpc>
              <a:buNone/>
            </a:pPr>
            <a:r>
              <a:rPr lang="en-US" sz="1250" b="1" kern="0" spc="-25" dirty="0">
                <a:solidFill>
                  <a:srgbClr val="EBEDF0"/>
                </a:solidFill>
                <a:latin typeface="Abadi" panose="020B0604020104020204" pitchFamily="34" charset="0"/>
                <a:ea typeface="Geist Bold" pitchFamily="34" charset="-122"/>
                <a:cs typeface="Geist Bold" pitchFamily="34" charset="-120"/>
              </a:rPr>
              <a:t>Movement</a:t>
            </a:r>
            <a:endParaRPr lang="en-US" sz="1250" dirty="0"/>
          </a:p>
        </p:txBody>
      </p:sp>
      <p:sp>
        <p:nvSpPr>
          <p:cNvPr id="5" name="Text 2"/>
          <p:cNvSpPr/>
          <p:nvPr/>
        </p:nvSpPr>
        <p:spPr>
          <a:xfrm>
            <a:off x="6780805" y="2876317"/>
            <a:ext cx="1031414" cy="206641"/>
          </a:xfrm>
          <a:prstGeom prst="rect">
            <a:avLst/>
          </a:prstGeom>
          <a:noFill/>
          <a:ln/>
        </p:spPr>
        <p:txBody>
          <a:bodyPr wrap="none" lIns="0" tIns="0" rIns="0" bIns="0" rtlCol="0" anchor="t"/>
          <a:lstStyle/>
          <a:p>
            <a:pPr marL="0" indent="0" algn="ctr">
              <a:lnSpc>
                <a:spcPct val="108000"/>
              </a:lnSpc>
              <a:buNone/>
            </a:pPr>
            <a:r>
              <a:rPr lang="en-US" sz="1250" b="1" kern="0" spc="-25" dirty="0">
                <a:solidFill>
                  <a:srgbClr val="EBEDF0"/>
                </a:solidFill>
                <a:latin typeface="Abadi" panose="020B0604020104020204" pitchFamily="34" charset="0"/>
                <a:ea typeface="Geist Bold" pitchFamily="34" charset="-122"/>
                <a:cs typeface="Geist Bold" pitchFamily="34" charset="-120"/>
              </a:rPr>
              <a:t>Decision</a:t>
            </a:r>
            <a:endParaRPr lang="en-US" sz="1250" dirty="0"/>
          </a:p>
        </p:txBody>
      </p:sp>
      <p:sp>
        <p:nvSpPr>
          <p:cNvPr id="6" name="Text 3"/>
          <p:cNvSpPr/>
          <p:nvPr/>
        </p:nvSpPr>
        <p:spPr>
          <a:xfrm>
            <a:off x="5455823" y="2876317"/>
            <a:ext cx="1031414" cy="206641"/>
          </a:xfrm>
          <a:prstGeom prst="rect">
            <a:avLst/>
          </a:prstGeom>
          <a:noFill/>
          <a:ln/>
        </p:spPr>
        <p:txBody>
          <a:bodyPr wrap="none" lIns="0" tIns="0" rIns="0" bIns="0" rtlCol="0" anchor="t"/>
          <a:lstStyle/>
          <a:p>
            <a:pPr marL="0" indent="0" algn="ctr">
              <a:lnSpc>
                <a:spcPct val="108000"/>
              </a:lnSpc>
              <a:buNone/>
            </a:pPr>
            <a:r>
              <a:rPr lang="en-US" sz="1250" b="1" kern="0" spc="-25" dirty="0">
                <a:solidFill>
                  <a:srgbClr val="EBEDF0"/>
                </a:solidFill>
                <a:latin typeface="Abadi" panose="020B0604020104020204" pitchFamily="34" charset="0"/>
                <a:ea typeface="Geist Bold" pitchFamily="34" charset="-122"/>
                <a:cs typeface="Geist Bold" pitchFamily="34" charset="-120"/>
              </a:rPr>
              <a:t>Processing</a:t>
            </a:r>
            <a:endParaRPr lang="en-US" sz="1250" dirty="0"/>
          </a:p>
        </p:txBody>
      </p:sp>
      <p:sp>
        <p:nvSpPr>
          <p:cNvPr id="7" name="Text 4"/>
          <p:cNvSpPr/>
          <p:nvPr/>
        </p:nvSpPr>
        <p:spPr>
          <a:xfrm>
            <a:off x="4026859" y="2876317"/>
            <a:ext cx="1031414" cy="206641"/>
          </a:xfrm>
          <a:prstGeom prst="rect">
            <a:avLst/>
          </a:prstGeom>
          <a:noFill/>
          <a:ln/>
        </p:spPr>
        <p:txBody>
          <a:bodyPr wrap="none" lIns="0" tIns="0" rIns="0" bIns="0" rtlCol="0" anchor="t"/>
          <a:lstStyle/>
          <a:p>
            <a:pPr marL="0" indent="0" algn="ctr">
              <a:lnSpc>
                <a:spcPct val="108000"/>
              </a:lnSpc>
              <a:buNone/>
            </a:pPr>
            <a:r>
              <a:rPr lang="en-US" sz="1250" b="1" kern="0" spc="-25" dirty="0">
                <a:solidFill>
                  <a:srgbClr val="EBEDF0"/>
                </a:solidFill>
                <a:latin typeface="Abadi" panose="020B0604020104020204" pitchFamily="34" charset="0"/>
                <a:ea typeface="Geist Bold" pitchFamily="34" charset="-122"/>
                <a:cs typeface="Geist Bold" pitchFamily="34" charset="-120"/>
              </a:rPr>
              <a:t>Sensors</a:t>
            </a:r>
            <a:endParaRPr lang="en-US" sz="1250" dirty="0"/>
          </a:p>
        </p:txBody>
      </p:sp>
      <p:sp>
        <p:nvSpPr>
          <p:cNvPr id="8" name="Text 5"/>
          <p:cNvSpPr/>
          <p:nvPr/>
        </p:nvSpPr>
        <p:spPr>
          <a:xfrm>
            <a:off x="2479736" y="2876317"/>
            <a:ext cx="1031415" cy="206641"/>
          </a:xfrm>
          <a:prstGeom prst="rect">
            <a:avLst/>
          </a:prstGeom>
          <a:noFill/>
          <a:ln/>
        </p:spPr>
        <p:txBody>
          <a:bodyPr wrap="none" lIns="0" tIns="0" rIns="0" bIns="0" rtlCol="0" anchor="t"/>
          <a:lstStyle/>
          <a:p>
            <a:pPr marL="0" indent="0" algn="ctr">
              <a:lnSpc>
                <a:spcPct val="108000"/>
              </a:lnSpc>
              <a:buNone/>
            </a:pPr>
            <a:r>
              <a:rPr lang="en-US" sz="1250" b="1" kern="0" spc="-25" dirty="0">
                <a:solidFill>
                  <a:srgbClr val="EBEDF0"/>
                </a:solidFill>
                <a:latin typeface="Abadi" panose="020B0604020104020204" pitchFamily="34" charset="0"/>
                <a:ea typeface="Geist Bold" pitchFamily="34" charset="-122"/>
                <a:cs typeface="Geist Bold" pitchFamily="34" charset="-120"/>
              </a:rPr>
              <a:t>Environment</a:t>
            </a:r>
            <a:endParaRPr lang="en-US" sz="1250" dirty="0"/>
          </a:p>
        </p:txBody>
      </p:sp>
      <p:sp>
        <p:nvSpPr>
          <p:cNvPr id="9" name="Shape 6"/>
          <p:cNvSpPr/>
          <p:nvPr/>
        </p:nvSpPr>
        <p:spPr>
          <a:xfrm>
            <a:off x="661474" y="3230747"/>
            <a:ext cx="10868745" cy="318294"/>
          </a:xfrm>
          <a:prstGeom prst="roundRect">
            <a:avLst>
              <a:gd name="adj" fmla="val 16212"/>
            </a:avLst>
          </a:prstGeom>
          <a:solidFill>
            <a:srgbClr val="002A80"/>
          </a:solidFill>
          <a:ln/>
        </p:spPr>
      </p:sp>
      <p:pic>
        <p:nvPicPr>
          <p:cNvPr id="10" name="Image 1" descr="preencoded.png"/>
          <p:cNvPicPr>
            <a:picLocks noChangeAspect="1"/>
          </p:cNvPicPr>
          <p:nvPr/>
        </p:nvPicPr>
        <p:blipFill>
          <a:blip r:embed="rId4"/>
          <a:stretch>
            <a:fillRect/>
          </a:stretch>
        </p:blipFill>
        <p:spPr>
          <a:xfrm flipV="1">
            <a:off x="779841" y="3308001"/>
            <a:ext cx="188711" cy="150912"/>
          </a:xfrm>
          <a:prstGeom prst="rect">
            <a:avLst/>
          </a:prstGeom>
        </p:spPr>
      </p:pic>
      <p:sp>
        <p:nvSpPr>
          <p:cNvPr id="11" name="Text 7"/>
          <p:cNvSpPr/>
          <p:nvPr/>
        </p:nvSpPr>
        <p:spPr>
          <a:xfrm>
            <a:off x="1029964" y="3323630"/>
            <a:ext cx="10987011" cy="105370"/>
          </a:xfrm>
          <a:prstGeom prst="rect">
            <a:avLst/>
          </a:prstGeom>
          <a:noFill/>
          <a:ln/>
        </p:spPr>
        <p:txBody>
          <a:bodyPr wrap="none" lIns="0" tIns="0" rIns="0" bIns="0" rtlCol="0" anchor="t"/>
          <a:lstStyle/>
          <a:p>
            <a:pPr marL="0" indent="0" algn="l">
              <a:lnSpc>
                <a:spcPct val="89000"/>
              </a:lnSpc>
              <a:buNone/>
            </a:pPr>
            <a:r>
              <a:rPr lang="en-US" sz="1200" dirty="0">
                <a:solidFill>
                  <a:srgbClr val="FFFFFF"/>
                </a:solidFill>
                <a:latin typeface="Abadi" panose="020B0604020104020204" pitchFamily="34" charset="0"/>
                <a:ea typeface="Geist" pitchFamily="34" charset="-122"/>
                <a:cs typeface="Geist" pitchFamily="34" charset="-120"/>
              </a:rPr>
              <a:t>Control loop: sensors monitor the system state, the controller compares it with the target state, and corrective action reduces error.</a:t>
            </a:r>
            <a:endParaRPr lang="en-US" sz="1200" dirty="0"/>
          </a:p>
        </p:txBody>
      </p:sp>
      <p:sp>
        <p:nvSpPr>
          <p:cNvPr id="12" name="Text 8"/>
          <p:cNvSpPr/>
          <p:nvPr/>
        </p:nvSpPr>
        <p:spPr>
          <a:xfrm>
            <a:off x="661475" y="3623767"/>
            <a:ext cx="10868745" cy="1079202"/>
          </a:xfrm>
          <a:prstGeom prst="rect">
            <a:avLst/>
          </a:prstGeom>
          <a:noFill/>
          <a:ln/>
        </p:spPr>
        <p:txBody>
          <a:bodyPr wrap="square" lIns="0" tIns="0" rIns="0" bIns="0" rtlCol="0" anchor="t">
            <a:normAutofit/>
          </a:bodyPr>
          <a:lstStyle/>
          <a:p>
            <a:pPr marL="0" indent="0" algn="l">
              <a:lnSpc>
                <a:spcPct val="89000"/>
              </a:lnSpc>
              <a:buNone/>
            </a:pPr>
            <a:r>
              <a:rPr lang="en-US" sz="1400" dirty="0">
                <a:solidFill>
                  <a:srgbClr val="EBEDF0"/>
                </a:solidFill>
                <a:latin typeface="Abadi" panose="020B0604020104020204" pitchFamily="34" charset="0"/>
                <a:ea typeface="Geist" pitchFamily="34" charset="-122"/>
                <a:cs typeface="Geist" pitchFamily="34" charset="-120"/>
              </a:rPr>
              <a:t>Sensor-based navigation operates as a continuous feedback system. Environmental data is acquired through sensors, processed by the control system to extract relevant information, interpreted to determine the machine’s position and surroundings, and used to guide movement decisions. Actuators then execute the selected actions while sensors continuously verify the outcome. This closed-loop process repeats at high frequency, enabling real-time adaptation to changing conditions and supporting safe, reliable autonomous operation.</a:t>
            </a:r>
            <a:endParaRPr lang="en-US" sz="1400" dirty="0"/>
          </a:p>
        </p:txBody>
      </p:sp>
      <p:sp>
        <p:nvSpPr>
          <p:cNvPr id="13" name="Shape 9"/>
          <p:cNvSpPr/>
          <p:nvPr/>
        </p:nvSpPr>
        <p:spPr>
          <a:xfrm>
            <a:off x="661475" y="4792762"/>
            <a:ext cx="5394488" cy="650180"/>
          </a:xfrm>
          <a:prstGeom prst="roundRect">
            <a:avLst>
              <a:gd name="adj" fmla="val 7937"/>
            </a:avLst>
          </a:prstGeom>
          <a:solidFill>
            <a:srgbClr val="101620"/>
          </a:solidFill>
          <a:ln w="12700">
            <a:solidFill>
              <a:srgbClr val="002A80"/>
            </a:solidFill>
            <a:prstDash val="solid"/>
          </a:ln>
        </p:spPr>
      </p:sp>
      <p:sp>
        <p:nvSpPr>
          <p:cNvPr id="14" name="Text 10"/>
          <p:cNvSpPr/>
          <p:nvPr/>
        </p:nvSpPr>
        <p:spPr>
          <a:xfrm>
            <a:off x="797004" y="4928295"/>
            <a:ext cx="5123429" cy="199628"/>
          </a:xfrm>
          <a:prstGeom prst="rect">
            <a:avLst/>
          </a:prstGeom>
          <a:noFill/>
          <a:ln/>
        </p:spPr>
        <p:txBody>
          <a:bodyPr wrap="none" lIns="0" tIns="0" rIns="0" bIns="0" rtlCol="0" anchor="t"/>
          <a:lstStyle/>
          <a:p>
            <a:pPr marL="0" indent="0" algn="l">
              <a:lnSpc>
                <a:spcPct val="108000"/>
              </a:lnSpc>
              <a:buNone/>
            </a:pPr>
            <a:r>
              <a:rPr lang="en-US" sz="1400" b="1" kern="0" spc="-24" dirty="0">
                <a:solidFill>
                  <a:srgbClr val="EBEDF0"/>
                </a:solidFill>
                <a:latin typeface="Abadi" panose="020B0604020104020204" pitchFamily="34" charset="0"/>
                <a:ea typeface="Geist Bold" pitchFamily="34" charset="-122"/>
                <a:cs typeface="Geist Bold" pitchFamily="34" charset="-120"/>
              </a:rPr>
              <a:t>Environmental Detection</a:t>
            </a:r>
            <a:endParaRPr lang="en-US" sz="1400" dirty="0"/>
          </a:p>
        </p:txBody>
      </p:sp>
      <p:sp>
        <p:nvSpPr>
          <p:cNvPr id="15" name="Text 11"/>
          <p:cNvSpPr/>
          <p:nvPr/>
        </p:nvSpPr>
        <p:spPr>
          <a:xfrm>
            <a:off x="797004" y="5175746"/>
            <a:ext cx="5123429" cy="131663"/>
          </a:xfrm>
          <a:prstGeom prst="rect">
            <a:avLst/>
          </a:prstGeom>
          <a:noFill/>
          <a:ln/>
        </p:spPr>
        <p:txBody>
          <a:bodyPr wrap="none" lIns="0" tIns="0" rIns="0" bIns="0" rtlCol="0" anchor="t"/>
          <a:lstStyle/>
          <a:p>
            <a:pPr marL="0" indent="0" algn="l">
              <a:lnSpc>
                <a:spcPct val="89000"/>
              </a:lnSpc>
              <a:buNone/>
            </a:pPr>
            <a:r>
              <a:rPr lang="en-US" sz="1200" dirty="0">
                <a:solidFill>
                  <a:srgbClr val="EBEDF0"/>
                </a:solidFill>
                <a:latin typeface="Abadi" panose="020B0604020104020204" pitchFamily="34" charset="0"/>
                <a:ea typeface="Geist" pitchFamily="34" charset="-122"/>
                <a:cs typeface="Geist" pitchFamily="34" charset="-120"/>
              </a:rPr>
              <a:t>Sensors scan the surroundings and collect raw data</a:t>
            </a:r>
            <a:endParaRPr lang="en-US" sz="1200" dirty="0"/>
          </a:p>
        </p:txBody>
      </p:sp>
      <p:sp>
        <p:nvSpPr>
          <p:cNvPr id="16" name="Shape 12"/>
          <p:cNvSpPr/>
          <p:nvPr/>
        </p:nvSpPr>
        <p:spPr>
          <a:xfrm>
            <a:off x="6135732" y="4792762"/>
            <a:ext cx="5394488" cy="650180"/>
          </a:xfrm>
          <a:prstGeom prst="roundRect">
            <a:avLst>
              <a:gd name="adj" fmla="val 7937"/>
            </a:avLst>
          </a:prstGeom>
          <a:solidFill>
            <a:srgbClr val="101620"/>
          </a:solidFill>
          <a:ln w="12700">
            <a:solidFill>
              <a:srgbClr val="002A80"/>
            </a:solidFill>
            <a:prstDash val="solid"/>
          </a:ln>
        </p:spPr>
      </p:sp>
      <p:sp>
        <p:nvSpPr>
          <p:cNvPr id="17" name="Text 13"/>
          <p:cNvSpPr/>
          <p:nvPr/>
        </p:nvSpPr>
        <p:spPr>
          <a:xfrm>
            <a:off x="6271262" y="4928295"/>
            <a:ext cx="5123429" cy="199628"/>
          </a:xfrm>
          <a:prstGeom prst="rect">
            <a:avLst/>
          </a:prstGeom>
          <a:noFill/>
          <a:ln/>
        </p:spPr>
        <p:txBody>
          <a:bodyPr wrap="none" lIns="0" tIns="0" rIns="0" bIns="0" rtlCol="0" anchor="t"/>
          <a:lstStyle/>
          <a:p>
            <a:pPr marL="0" indent="0" algn="l">
              <a:lnSpc>
                <a:spcPct val="108000"/>
              </a:lnSpc>
              <a:buNone/>
            </a:pPr>
            <a:r>
              <a:rPr lang="en-US" sz="1400" b="1" kern="0" spc="-24" dirty="0">
                <a:solidFill>
                  <a:srgbClr val="EBEDF0"/>
                </a:solidFill>
                <a:latin typeface="Abadi" panose="020B0604020104020204" pitchFamily="34" charset="0"/>
                <a:ea typeface="Geist Bold" pitchFamily="34" charset="-122"/>
                <a:cs typeface="Geist Bold" pitchFamily="34" charset="-120"/>
              </a:rPr>
              <a:t>Signal Processing</a:t>
            </a:r>
            <a:endParaRPr lang="en-US" sz="1400" dirty="0"/>
          </a:p>
        </p:txBody>
      </p:sp>
      <p:sp>
        <p:nvSpPr>
          <p:cNvPr id="18" name="Text 14"/>
          <p:cNvSpPr/>
          <p:nvPr/>
        </p:nvSpPr>
        <p:spPr>
          <a:xfrm>
            <a:off x="6271262" y="5175746"/>
            <a:ext cx="5123429" cy="131663"/>
          </a:xfrm>
          <a:prstGeom prst="rect">
            <a:avLst/>
          </a:prstGeom>
          <a:noFill/>
          <a:ln/>
        </p:spPr>
        <p:txBody>
          <a:bodyPr wrap="none" lIns="0" tIns="0" rIns="0" bIns="0" rtlCol="0" anchor="t"/>
          <a:lstStyle/>
          <a:p>
            <a:pPr marL="0" indent="0" algn="l">
              <a:lnSpc>
                <a:spcPct val="89000"/>
              </a:lnSpc>
              <a:buNone/>
            </a:pPr>
            <a:r>
              <a:rPr lang="en-US" sz="1200" dirty="0">
                <a:solidFill>
                  <a:srgbClr val="EBEDF0"/>
                </a:solidFill>
                <a:latin typeface="Abadi" panose="020B0604020104020204" pitchFamily="34" charset="0"/>
                <a:ea typeface="Geist" pitchFamily="34" charset="-122"/>
                <a:cs typeface="Geist" pitchFamily="34" charset="-120"/>
              </a:rPr>
              <a:t>Raw signals are converted into meaningful information</a:t>
            </a:r>
            <a:endParaRPr lang="en-US" sz="1200" dirty="0"/>
          </a:p>
        </p:txBody>
      </p:sp>
      <p:sp>
        <p:nvSpPr>
          <p:cNvPr id="19" name="Shape 15"/>
          <p:cNvSpPr/>
          <p:nvPr/>
        </p:nvSpPr>
        <p:spPr>
          <a:xfrm>
            <a:off x="661475" y="5522714"/>
            <a:ext cx="5394488" cy="650180"/>
          </a:xfrm>
          <a:prstGeom prst="roundRect">
            <a:avLst>
              <a:gd name="adj" fmla="val 7937"/>
            </a:avLst>
          </a:prstGeom>
          <a:solidFill>
            <a:srgbClr val="101620"/>
          </a:solidFill>
          <a:ln w="12700">
            <a:solidFill>
              <a:srgbClr val="002A80"/>
            </a:solidFill>
            <a:prstDash val="solid"/>
          </a:ln>
        </p:spPr>
      </p:sp>
      <p:sp>
        <p:nvSpPr>
          <p:cNvPr id="20" name="Text 16"/>
          <p:cNvSpPr/>
          <p:nvPr/>
        </p:nvSpPr>
        <p:spPr>
          <a:xfrm>
            <a:off x="797004" y="5658247"/>
            <a:ext cx="5123429" cy="199628"/>
          </a:xfrm>
          <a:prstGeom prst="rect">
            <a:avLst/>
          </a:prstGeom>
          <a:noFill/>
          <a:ln/>
        </p:spPr>
        <p:txBody>
          <a:bodyPr wrap="none" lIns="0" tIns="0" rIns="0" bIns="0" rtlCol="0" anchor="t"/>
          <a:lstStyle/>
          <a:p>
            <a:pPr marL="0" indent="0" algn="l">
              <a:lnSpc>
                <a:spcPct val="108000"/>
              </a:lnSpc>
              <a:buNone/>
            </a:pPr>
            <a:r>
              <a:rPr lang="en-US" sz="1400" b="1" kern="0" spc="-24" dirty="0">
                <a:solidFill>
                  <a:srgbClr val="EBEDF0"/>
                </a:solidFill>
                <a:latin typeface="Abadi" panose="020B0604020104020204" pitchFamily="34" charset="0"/>
                <a:ea typeface="Geist Bold" pitchFamily="34" charset="-122"/>
                <a:cs typeface="Geist Bold" pitchFamily="34" charset="-120"/>
              </a:rPr>
              <a:t>Decision Making</a:t>
            </a:r>
            <a:endParaRPr lang="en-US" sz="1400" dirty="0"/>
          </a:p>
        </p:txBody>
      </p:sp>
      <p:sp>
        <p:nvSpPr>
          <p:cNvPr id="21" name="Text 17"/>
          <p:cNvSpPr/>
          <p:nvPr/>
        </p:nvSpPr>
        <p:spPr>
          <a:xfrm>
            <a:off x="797004" y="5905698"/>
            <a:ext cx="5123429" cy="131663"/>
          </a:xfrm>
          <a:prstGeom prst="rect">
            <a:avLst/>
          </a:prstGeom>
          <a:noFill/>
          <a:ln/>
        </p:spPr>
        <p:txBody>
          <a:bodyPr wrap="none" lIns="0" tIns="0" rIns="0" bIns="0" rtlCol="0" anchor="t"/>
          <a:lstStyle/>
          <a:p>
            <a:pPr marL="0" indent="0" algn="l">
              <a:lnSpc>
                <a:spcPct val="89000"/>
              </a:lnSpc>
              <a:buNone/>
            </a:pPr>
            <a:r>
              <a:rPr lang="en-US" sz="1200" dirty="0">
                <a:solidFill>
                  <a:srgbClr val="EBEDF0"/>
                </a:solidFill>
                <a:latin typeface="Abadi" panose="020B0604020104020204" pitchFamily="34" charset="0"/>
                <a:ea typeface="Geist" pitchFamily="34" charset="-122"/>
                <a:cs typeface="Geist" pitchFamily="34" charset="-120"/>
              </a:rPr>
              <a:t>Position, obstacles, and next actions are evaluated</a:t>
            </a:r>
            <a:endParaRPr lang="en-US" sz="1200" dirty="0"/>
          </a:p>
        </p:txBody>
      </p:sp>
      <p:sp>
        <p:nvSpPr>
          <p:cNvPr id="22" name="Shape 18"/>
          <p:cNvSpPr/>
          <p:nvPr/>
        </p:nvSpPr>
        <p:spPr>
          <a:xfrm>
            <a:off x="6135732" y="5522714"/>
            <a:ext cx="5394488" cy="650180"/>
          </a:xfrm>
          <a:prstGeom prst="roundRect">
            <a:avLst>
              <a:gd name="adj" fmla="val 7937"/>
            </a:avLst>
          </a:prstGeom>
          <a:solidFill>
            <a:srgbClr val="101620"/>
          </a:solidFill>
          <a:ln w="12700">
            <a:solidFill>
              <a:srgbClr val="002A80"/>
            </a:solidFill>
            <a:prstDash val="solid"/>
          </a:ln>
        </p:spPr>
      </p:sp>
      <p:sp>
        <p:nvSpPr>
          <p:cNvPr id="23" name="Text 19"/>
          <p:cNvSpPr/>
          <p:nvPr/>
        </p:nvSpPr>
        <p:spPr>
          <a:xfrm>
            <a:off x="6271262" y="5658247"/>
            <a:ext cx="5123429" cy="199628"/>
          </a:xfrm>
          <a:prstGeom prst="rect">
            <a:avLst/>
          </a:prstGeom>
          <a:noFill/>
          <a:ln/>
        </p:spPr>
        <p:txBody>
          <a:bodyPr wrap="none" lIns="0" tIns="0" rIns="0" bIns="0" rtlCol="0" anchor="t"/>
          <a:lstStyle/>
          <a:p>
            <a:pPr marL="0" indent="0" algn="l">
              <a:lnSpc>
                <a:spcPct val="108000"/>
              </a:lnSpc>
              <a:buNone/>
            </a:pPr>
            <a:r>
              <a:rPr lang="en-US" sz="1400" b="1" kern="0" spc="-24" dirty="0">
                <a:solidFill>
                  <a:srgbClr val="EBEDF0"/>
                </a:solidFill>
                <a:latin typeface="Abadi" panose="020B0604020104020204" pitchFamily="34" charset="0"/>
                <a:ea typeface="Geist Bold" pitchFamily="34" charset="-122"/>
                <a:cs typeface="Geist Bold" pitchFamily="34" charset="-120"/>
              </a:rPr>
              <a:t>Motion Control</a:t>
            </a:r>
            <a:endParaRPr lang="en-US" sz="1400" dirty="0"/>
          </a:p>
        </p:txBody>
      </p:sp>
      <p:sp>
        <p:nvSpPr>
          <p:cNvPr id="24" name="Text 20"/>
          <p:cNvSpPr/>
          <p:nvPr/>
        </p:nvSpPr>
        <p:spPr>
          <a:xfrm>
            <a:off x="6271262" y="5905698"/>
            <a:ext cx="5123429" cy="131663"/>
          </a:xfrm>
          <a:prstGeom prst="rect">
            <a:avLst/>
          </a:prstGeom>
          <a:noFill/>
          <a:ln/>
        </p:spPr>
        <p:txBody>
          <a:bodyPr wrap="none" lIns="0" tIns="0" rIns="0" bIns="0" rtlCol="0" anchor="t"/>
          <a:lstStyle/>
          <a:p>
            <a:pPr marL="0" indent="0" algn="l">
              <a:lnSpc>
                <a:spcPct val="89000"/>
              </a:lnSpc>
              <a:buNone/>
            </a:pPr>
            <a:r>
              <a:rPr lang="en-US" sz="1200" dirty="0">
                <a:solidFill>
                  <a:srgbClr val="EBEDF0"/>
                </a:solidFill>
                <a:latin typeface="Abadi" panose="020B0604020104020204" pitchFamily="34" charset="0"/>
                <a:ea typeface="Geist" pitchFamily="34" charset="-122"/>
                <a:cs typeface="Geist" pitchFamily="34" charset="-120"/>
              </a:rPr>
              <a:t>Motors are activated to support safe and efficient navigation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85205"/>
            <a:ext cx="10868745" cy="491430"/>
          </a:xfrm>
          <a:prstGeom prst="rect">
            <a:avLst/>
          </a:prstGeom>
          <a:noFill/>
          <a:ln/>
        </p:spPr>
        <p:txBody>
          <a:bodyPr wrap="none" lIns="0" tIns="0" rIns="0" bIns="0" rtlCol="0" anchor="t"/>
          <a:lstStyle/>
          <a:p>
            <a:pPr marL="0" indent="0" algn="l">
              <a:lnSpc>
                <a:spcPct val="108000"/>
              </a:lnSpc>
              <a:buNone/>
            </a:pPr>
            <a:r>
              <a:rPr lang="en-US" sz="2950" b="1" kern="0" spc="-60" dirty="0">
                <a:solidFill>
                  <a:srgbClr val="F2F5FA"/>
                </a:solidFill>
                <a:latin typeface="Abadi" panose="020B0604020104020204" pitchFamily="34" charset="0"/>
                <a:ea typeface="Geist Bold" pitchFamily="34" charset="-122"/>
                <a:cs typeface="Geist Bold" pitchFamily="34" charset="-120"/>
              </a:rPr>
              <a:t>Types of Navigation Sensors</a:t>
            </a:r>
            <a:endParaRPr lang="en-US" sz="2950" dirty="0"/>
          </a:p>
        </p:txBody>
      </p:sp>
      <p:sp>
        <p:nvSpPr>
          <p:cNvPr id="3" name="Text 1"/>
          <p:cNvSpPr/>
          <p:nvPr/>
        </p:nvSpPr>
        <p:spPr>
          <a:xfrm>
            <a:off x="661475" y="1176635"/>
            <a:ext cx="10868745" cy="595709"/>
          </a:xfrm>
          <a:prstGeom prst="rect">
            <a:avLst/>
          </a:prstGeom>
          <a:noFill/>
          <a:ln/>
        </p:spPr>
        <p:txBody>
          <a:bodyPr wrap="square" lIns="0" tIns="0" rIns="0" bIns="0" rtlCol="0" anchor="t">
            <a:normAutofit/>
          </a:bodyPr>
          <a:lstStyle/>
          <a:p>
            <a:pPr marL="0" indent="0" algn="l">
              <a:lnSpc>
                <a:spcPct val="97000"/>
              </a:lnSpc>
              <a:buNone/>
            </a:pPr>
            <a:r>
              <a:rPr lang="en-US" sz="1400" dirty="0">
                <a:solidFill>
                  <a:srgbClr val="EBEDF0"/>
                </a:solidFill>
                <a:latin typeface="Abadi" panose="020B0604020104020204" pitchFamily="34" charset="0"/>
                <a:ea typeface="Geist" pitchFamily="34" charset="-122"/>
                <a:cs typeface="Geist" pitchFamily="34" charset="-120"/>
              </a:rPr>
              <a:t>Navigation systems commonly integrate multiple sensing modalities to estimate position, detect obstacles, and support reliable motion in diverse operating conditions.</a:t>
            </a:r>
            <a:endParaRPr lang="en-US" sz="14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08373"/>
            <a:ext cx="378014" cy="378023"/>
          </a:xfrm>
          <a:prstGeom prst="rect">
            <a:avLst/>
          </a:prstGeom>
        </p:spPr>
      </p:pic>
      <p:sp>
        <p:nvSpPr>
          <p:cNvPr id="5" name="Text 2"/>
          <p:cNvSpPr/>
          <p:nvPr/>
        </p:nvSpPr>
        <p:spPr>
          <a:xfrm>
            <a:off x="661475" y="2437606"/>
            <a:ext cx="3522078"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Ultrasonic Sensors</a:t>
            </a:r>
            <a:endParaRPr lang="en-US" sz="1450" dirty="0"/>
          </a:p>
        </p:txBody>
      </p:sp>
      <p:sp>
        <p:nvSpPr>
          <p:cNvPr id="6" name="Text 3"/>
          <p:cNvSpPr/>
          <p:nvPr/>
        </p:nvSpPr>
        <p:spPr>
          <a:xfrm>
            <a:off x="661475" y="2755800"/>
            <a:ext cx="3522078" cy="530721"/>
          </a:xfrm>
          <a:prstGeom prst="rect">
            <a:avLst/>
          </a:prstGeom>
          <a:noFill/>
          <a:ln/>
        </p:spPr>
        <p:txBody>
          <a:bodyPr wrap="square" lIns="0" tIns="0" rIns="0" bIns="0" rtlCol="0" anchor="t">
            <a:normAutofit/>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Measure distance by emitting acoustic pulses and calculating time-of-flight from the returning echo.</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4759" y="1908373"/>
            <a:ext cx="378014" cy="378023"/>
          </a:xfrm>
          <a:prstGeom prst="rect">
            <a:avLst/>
          </a:prstGeom>
        </p:spPr>
      </p:pic>
      <p:sp>
        <p:nvSpPr>
          <p:cNvPr id="8" name="Text 4"/>
          <p:cNvSpPr/>
          <p:nvPr/>
        </p:nvSpPr>
        <p:spPr>
          <a:xfrm>
            <a:off x="4334759" y="2437606"/>
            <a:ext cx="3522078"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Infrared Sensors</a:t>
            </a:r>
            <a:endParaRPr lang="en-US" sz="1450" dirty="0"/>
          </a:p>
        </p:txBody>
      </p:sp>
      <p:sp>
        <p:nvSpPr>
          <p:cNvPr id="9" name="Text 5"/>
          <p:cNvSpPr/>
          <p:nvPr/>
        </p:nvSpPr>
        <p:spPr>
          <a:xfrm>
            <a:off x="4334759" y="2755801"/>
            <a:ext cx="3522078" cy="353814"/>
          </a:xfrm>
          <a:prstGeom prst="rect">
            <a:avLst/>
          </a:prstGeom>
          <a:noFill/>
          <a:ln/>
        </p:spPr>
        <p:txBody>
          <a:bodyPr wrap="square" lIns="0" tIns="0" rIns="0" bIns="0" rtlCol="0" anchor="t">
            <a:normAutofit lnSpcReduction="10000"/>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Detect nearby obstacles using reflected infrared radiation and short-range proximity sensing.</a:t>
            </a:r>
            <a:endParaRPr lang="en-US" sz="12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08043" y="1908373"/>
            <a:ext cx="378014" cy="378023"/>
          </a:xfrm>
          <a:prstGeom prst="rect">
            <a:avLst/>
          </a:prstGeom>
        </p:spPr>
      </p:pic>
      <p:sp>
        <p:nvSpPr>
          <p:cNvPr id="11" name="Text 6"/>
          <p:cNvSpPr/>
          <p:nvPr/>
        </p:nvSpPr>
        <p:spPr>
          <a:xfrm>
            <a:off x="8008043" y="2437606"/>
            <a:ext cx="3522178"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LiDAR</a:t>
            </a:r>
            <a:endParaRPr lang="en-US" sz="1450" dirty="0"/>
          </a:p>
        </p:txBody>
      </p:sp>
      <p:sp>
        <p:nvSpPr>
          <p:cNvPr id="12" name="Text 7"/>
          <p:cNvSpPr/>
          <p:nvPr/>
        </p:nvSpPr>
        <p:spPr>
          <a:xfrm>
            <a:off x="8008043" y="2755801"/>
            <a:ext cx="3522178" cy="530721"/>
          </a:xfrm>
          <a:prstGeom prst="rect">
            <a:avLst/>
          </a:prstGeom>
          <a:noFill/>
          <a:ln/>
        </p:spPr>
        <p:txBody>
          <a:bodyPr wrap="square" lIns="0" tIns="0" rIns="0" bIns="0" rtlCol="0" anchor="t">
            <a:normAutofit/>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Construct high-resolution three-dimensional environmental maps through laser-based scanning.</a:t>
            </a:r>
            <a:endParaRPr lang="en-US" sz="12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3528417"/>
            <a:ext cx="378014" cy="378023"/>
          </a:xfrm>
          <a:prstGeom prst="rect">
            <a:avLst/>
          </a:prstGeom>
        </p:spPr>
      </p:pic>
      <p:sp>
        <p:nvSpPr>
          <p:cNvPr id="14" name="Text 8"/>
          <p:cNvSpPr/>
          <p:nvPr/>
        </p:nvSpPr>
        <p:spPr>
          <a:xfrm>
            <a:off x="661475" y="4057650"/>
            <a:ext cx="3522078"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Camera</a:t>
            </a:r>
            <a:endParaRPr lang="en-US" sz="1450" dirty="0"/>
          </a:p>
        </p:txBody>
      </p:sp>
      <p:sp>
        <p:nvSpPr>
          <p:cNvPr id="15" name="Text 9"/>
          <p:cNvSpPr/>
          <p:nvPr/>
        </p:nvSpPr>
        <p:spPr>
          <a:xfrm>
            <a:off x="661475" y="4375845"/>
            <a:ext cx="3522078" cy="353814"/>
          </a:xfrm>
          <a:prstGeom prst="rect">
            <a:avLst/>
          </a:prstGeom>
          <a:noFill/>
          <a:ln/>
        </p:spPr>
        <p:txBody>
          <a:bodyPr wrap="square" lIns="0" tIns="0" rIns="0" bIns="0" rtlCol="0" anchor="t">
            <a:normAutofit lnSpcReduction="10000"/>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Support visual perception, feature extraction, and scene recognition for navigation.</a:t>
            </a:r>
            <a:endParaRPr lang="en-US" sz="12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34759" y="3528417"/>
            <a:ext cx="378014" cy="378023"/>
          </a:xfrm>
          <a:prstGeom prst="rect">
            <a:avLst/>
          </a:prstGeom>
        </p:spPr>
      </p:pic>
      <p:sp>
        <p:nvSpPr>
          <p:cNvPr id="17" name="Text 10"/>
          <p:cNvSpPr/>
          <p:nvPr/>
        </p:nvSpPr>
        <p:spPr>
          <a:xfrm>
            <a:off x="4334759" y="4057650"/>
            <a:ext cx="3522078"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GPS</a:t>
            </a:r>
            <a:endParaRPr lang="en-US" sz="1450" dirty="0"/>
          </a:p>
        </p:txBody>
      </p:sp>
      <p:sp>
        <p:nvSpPr>
          <p:cNvPr id="18" name="Text 11"/>
          <p:cNvSpPr/>
          <p:nvPr/>
        </p:nvSpPr>
        <p:spPr>
          <a:xfrm>
            <a:off x="4334759" y="4375845"/>
            <a:ext cx="3522078" cy="353814"/>
          </a:xfrm>
          <a:prstGeom prst="rect">
            <a:avLst/>
          </a:prstGeom>
          <a:noFill/>
          <a:ln/>
        </p:spPr>
        <p:txBody>
          <a:bodyPr wrap="square" lIns="0" tIns="0" rIns="0" bIns="0" rtlCol="0" anchor="t">
            <a:normAutofit lnSpcReduction="10000"/>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Provide global positioning and outdoor localization through satellite-based signals.</a:t>
            </a:r>
            <a:endParaRPr lang="en-US" sz="12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08043" y="3528417"/>
            <a:ext cx="378014" cy="378023"/>
          </a:xfrm>
          <a:prstGeom prst="rect">
            <a:avLst/>
          </a:prstGeom>
        </p:spPr>
      </p:pic>
      <p:sp>
        <p:nvSpPr>
          <p:cNvPr id="20" name="Text 12"/>
          <p:cNvSpPr/>
          <p:nvPr/>
        </p:nvSpPr>
        <p:spPr>
          <a:xfrm>
            <a:off x="8008043" y="4057650"/>
            <a:ext cx="3522178"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IMU</a:t>
            </a:r>
            <a:endParaRPr lang="en-US" sz="1450" dirty="0"/>
          </a:p>
        </p:txBody>
      </p:sp>
      <p:sp>
        <p:nvSpPr>
          <p:cNvPr id="21" name="Text 13"/>
          <p:cNvSpPr/>
          <p:nvPr/>
        </p:nvSpPr>
        <p:spPr>
          <a:xfrm>
            <a:off x="8008043" y="4375845"/>
            <a:ext cx="3522178" cy="353814"/>
          </a:xfrm>
          <a:prstGeom prst="rect">
            <a:avLst/>
          </a:prstGeom>
          <a:noFill/>
          <a:ln/>
        </p:spPr>
        <p:txBody>
          <a:bodyPr wrap="square" lIns="0" tIns="0" rIns="0" bIns="0" rtlCol="0" anchor="t">
            <a:normAutofit lnSpcReduction="10000"/>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Measure linear acceleration and angular velocity to track motion and orientation.</a:t>
            </a:r>
            <a:endParaRPr lang="en-US" sz="1200" dirty="0"/>
          </a:p>
        </p:txBody>
      </p:sp>
      <p:pic>
        <p:nvPicPr>
          <p:cNvPr id="2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475" y="4971554"/>
            <a:ext cx="378014" cy="378023"/>
          </a:xfrm>
          <a:prstGeom prst="rect">
            <a:avLst/>
          </a:prstGeom>
        </p:spPr>
      </p:pic>
      <p:sp>
        <p:nvSpPr>
          <p:cNvPr id="23" name="Text 14"/>
          <p:cNvSpPr/>
          <p:nvPr/>
        </p:nvSpPr>
        <p:spPr>
          <a:xfrm>
            <a:off x="661475" y="5500787"/>
            <a:ext cx="3522078"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Wheel Encoder</a:t>
            </a:r>
            <a:endParaRPr lang="en-US" sz="1450" dirty="0"/>
          </a:p>
        </p:txBody>
      </p:sp>
      <p:sp>
        <p:nvSpPr>
          <p:cNvPr id="24" name="Text 15"/>
          <p:cNvSpPr/>
          <p:nvPr/>
        </p:nvSpPr>
        <p:spPr>
          <a:xfrm>
            <a:off x="661475" y="5818981"/>
            <a:ext cx="3522078" cy="353814"/>
          </a:xfrm>
          <a:prstGeom prst="rect">
            <a:avLst/>
          </a:prstGeom>
          <a:noFill/>
          <a:ln/>
        </p:spPr>
        <p:txBody>
          <a:bodyPr wrap="square" lIns="0" tIns="0" rIns="0" bIns="0" rtlCol="0" anchor="t">
            <a:normAutofit lnSpcReduction="10000"/>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Quantify wheel rotation to estimate displacement, speed, and relative movement.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76573"/>
            <a:ext cx="10868745" cy="583605"/>
          </a:xfrm>
          <a:prstGeom prst="rect">
            <a:avLst/>
          </a:prstGeom>
          <a:noFill/>
          <a:ln/>
        </p:spPr>
        <p:txBody>
          <a:bodyPr wrap="none" lIns="0" tIns="0" rIns="0" bIns="0" rtlCol="0" anchor="t"/>
          <a:lstStyle/>
          <a:p>
            <a:pPr marL="0" indent="0" algn="l">
              <a:lnSpc>
                <a:spcPct val="108000"/>
              </a:lnSpc>
              <a:buNone/>
            </a:pPr>
            <a:r>
              <a:rPr lang="en-US" sz="3500" b="1" kern="0" spc="-71" dirty="0">
                <a:solidFill>
                  <a:srgbClr val="F2F5FA"/>
                </a:solidFill>
                <a:latin typeface="Abadi" panose="020B0604020104020204" pitchFamily="34" charset="0"/>
                <a:ea typeface="Geist Bold" pitchFamily="34" charset="-122"/>
                <a:cs typeface="Geist Bold" pitchFamily="34" charset="-120"/>
              </a:rPr>
              <a:t>Step-by-Step Navigation Process</a:t>
            </a:r>
            <a:endParaRPr lang="en-US" sz="3500" dirty="0"/>
          </a:p>
        </p:txBody>
      </p:sp>
      <p:sp>
        <p:nvSpPr>
          <p:cNvPr id="3" name="Text 1"/>
          <p:cNvSpPr/>
          <p:nvPr/>
        </p:nvSpPr>
        <p:spPr>
          <a:xfrm>
            <a:off x="661475" y="1601291"/>
            <a:ext cx="359064" cy="233362"/>
          </a:xfrm>
          <a:prstGeom prst="rect">
            <a:avLst/>
          </a:prstGeom>
          <a:noFill/>
          <a:ln/>
        </p:spPr>
        <p:txBody>
          <a:bodyPr wrap="none" lIns="0" tIns="0" rIns="0" bIns="0" rtlCol="0" anchor="ctr"/>
          <a:lstStyle/>
          <a:p>
            <a:pPr marL="0" indent="0" algn="l">
              <a:lnSpc>
                <a:spcPct val="100000"/>
              </a:lnSpc>
              <a:buNone/>
            </a:pPr>
            <a:r>
              <a:rPr lang="en-US" sz="1400" kern="0" spc="-28" dirty="0">
                <a:solidFill>
                  <a:srgbClr val="EBEDF0"/>
                </a:solidFill>
                <a:latin typeface="Geist Light" pitchFamily="34" charset="0"/>
                <a:ea typeface="Geist Light" pitchFamily="34" charset="-122"/>
                <a:cs typeface="Geist Light" pitchFamily="34" charset="-120"/>
              </a:rPr>
              <a:t>01</a:t>
            </a:r>
            <a:endParaRPr lang="en-US" sz="1400" dirty="0"/>
          </a:p>
        </p:txBody>
      </p:sp>
      <p:sp>
        <p:nvSpPr>
          <p:cNvPr id="4" name="Shape 2"/>
          <p:cNvSpPr/>
          <p:nvPr/>
        </p:nvSpPr>
        <p:spPr>
          <a:xfrm>
            <a:off x="661475" y="1889919"/>
            <a:ext cx="5349047" cy="25400"/>
          </a:xfrm>
          <a:prstGeom prst="rect">
            <a:avLst/>
          </a:prstGeom>
          <a:solidFill>
            <a:srgbClr val="487CFF"/>
          </a:solidFill>
          <a:ln/>
        </p:spPr>
      </p:sp>
      <p:sp>
        <p:nvSpPr>
          <p:cNvPr id="5" name="Text 3"/>
          <p:cNvSpPr/>
          <p:nvPr/>
        </p:nvSpPr>
        <p:spPr>
          <a:xfrm>
            <a:off x="661475" y="2030413"/>
            <a:ext cx="5349047" cy="291703"/>
          </a:xfrm>
          <a:prstGeom prst="rect">
            <a:avLst/>
          </a:prstGeom>
          <a:noFill/>
          <a:ln/>
        </p:spPr>
        <p:txBody>
          <a:bodyPr wrap="none" lIns="0" tIns="0" rIns="0" bIns="0" rtlCol="0" anchor="t"/>
          <a:lstStyle/>
          <a:p>
            <a:pPr marL="0" indent="0" algn="l">
              <a:lnSpc>
                <a:spcPct val="108000"/>
              </a:lnSpc>
              <a:buNone/>
            </a:pPr>
            <a:r>
              <a:rPr lang="en-US" sz="1750" b="1" kern="0" spc="-35" dirty="0">
                <a:solidFill>
                  <a:srgbClr val="EBEDF0"/>
                </a:solidFill>
                <a:latin typeface="Abadi" panose="020B0604020104020204" pitchFamily="34" charset="0"/>
                <a:ea typeface="Geist Bold" pitchFamily="34" charset="-122"/>
                <a:cs typeface="Geist Bold" pitchFamily="34" charset="-120"/>
              </a:rPr>
              <a:t>Detect</a:t>
            </a:r>
            <a:endParaRPr lang="en-US" sz="1750" dirty="0"/>
          </a:p>
        </p:txBody>
      </p:sp>
      <p:sp>
        <p:nvSpPr>
          <p:cNvPr id="6" name="Text 4"/>
          <p:cNvSpPr/>
          <p:nvPr/>
        </p:nvSpPr>
        <p:spPr>
          <a:xfrm>
            <a:off x="661475" y="2424410"/>
            <a:ext cx="5349047" cy="455216"/>
          </a:xfrm>
          <a:prstGeom prst="rect">
            <a:avLst/>
          </a:prstGeom>
          <a:noFill/>
          <a:ln/>
        </p:spPr>
        <p:txBody>
          <a:bodyPr wrap="square" lIns="0" tIns="0" rIns="0" bIns="0" rtlCol="0" anchor="t">
            <a:normAutofit/>
          </a:bodyPr>
          <a:lstStyle/>
          <a:p>
            <a:pPr marL="0" indent="0" algn="l">
              <a:lnSpc>
                <a:spcPct val="106000"/>
              </a:lnSpc>
              <a:buNone/>
            </a:pPr>
            <a:r>
              <a:rPr lang="en-US" sz="1400" dirty="0">
                <a:solidFill>
                  <a:srgbClr val="EBEDF0"/>
                </a:solidFill>
                <a:latin typeface="Abadi" panose="020B0604020104020204" pitchFamily="34" charset="0"/>
                <a:ea typeface="Geist" pitchFamily="34" charset="-122"/>
                <a:cs typeface="Geist" pitchFamily="34" charset="-120"/>
              </a:rPr>
              <a:t>Sensors continuously scan the environment to identify obstacles in real time</a:t>
            </a:r>
            <a:endParaRPr lang="en-US" sz="1400" dirty="0"/>
          </a:p>
        </p:txBody>
      </p:sp>
      <p:sp>
        <p:nvSpPr>
          <p:cNvPr id="7" name="Text 5"/>
          <p:cNvSpPr/>
          <p:nvPr/>
        </p:nvSpPr>
        <p:spPr>
          <a:xfrm>
            <a:off x="6181074" y="1601291"/>
            <a:ext cx="359064" cy="233362"/>
          </a:xfrm>
          <a:prstGeom prst="rect">
            <a:avLst/>
          </a:prstGeom>
          <a:noFill/>
          <a:ln/>
        </p:spPr>
        <p:txBody>
          <a:bodyPr wrap="none" lIns="0" tIns="0" rIns="0" bIns="0" rtlCol="0" anchor="ctr"/>
          <a:lstStyle/>
          <a:p>
            <a:pPr marL="0" indent="0" algn="l">
              <a:lnSpc>
                <a:spcPct val="100000"/>
              </a:lnSpc>
              <a:buNone/>
            </a:pPr>
            <a:r>
              <a:rPr lang="en-US" sz="1400" kern="0" spc="-28" dirty="0">
                <a:solidFill>
                  <a:srgbClr val="EBEDF0"/>
                </a:solidFill>
                <a:latin typeface="Geist Light" pitchFamily="34" charset="0"/>
                <a:ea typeface="Geist Light" pitchFamily="34" charset="-122"/>
                <a:cs typeface="Geist Light" pitchFamily="34" charset="-120"/>
              </a:rPr>
              <a:t>02</a:t>
            </a:r>
            <a:endParaRPr lang="en-US" sz="1400" dirty="0"/>
          </a:p>
        </p:txBody>
      </p:sp>
      <p:sp>
        <p:nvSpPr>
          <p:cNvPr id="8" name="Shape 6"/>
          <p:cNvSpPr/>
          <p:nvPr/>
        </p:nvSpPr>
        <p:spPr>
          <a:xfrm>
            <a:off x="6181074" y="1907877"/>
            <a:ext cx="5349146" cy="25400"/>
          </a:xfrm>
          <a:prstGeom prst="rect">
            <a:avLst/>
          </a:prstGeom>
          <a:solidFill>
            <a:srgbClr val="487CFF"/>
          </a:solidFill>
          <a:ln/>
        </p:spPr>
      </p:sp>
      <p:sp>
        <p:nvSpPr>
          <p:cNvPr id="9" name="Text 7"/>
          <p:cNvSpPr/>
          <p:nvPr/>
        </p:nvSpPr>
        <p:spPr>
          <a:xfrm>
            <a:off x="6181074" y="2030413"/>
            <a:ext cx="5349146" cy="291703"/>
          </a:xfrm>
          <a:prstGeom prst="rect">
            <a:avLst/>
          </a:prstGeom>
          <a:noFill/>
          <a:ln/>
        </p:spPr>
        <p:txBody>
          <a:bodyPr wrap="none" lIns="0" tIns="0" rIns="0" bIns="0" rtlCol="0" anchor="t"/>
          <a:lstStyle/>
          <a:p>
            <a:pPr marL="0" indent="0" algn="l">
              <a:lnSpc>
                <a:spcPct val="108000"/>
              </a:lnSpc>
              <a:buNone/>
            </a:pPr>
            <a:r>
              <a:rPr lang="en-US" sz="1750" b="1" kern="0" spc="-35" dirty="0">
                <a:solidFill>
                  <a:srgbClr val="EBEDF0"/>
                </a:solidFill>
                <a:latin typeface="Abadi" panose="020B0604020104020204" pitchFamily="34" charset="0"/>
                <a:ea typeface="Geist Bold" pitchFamily="34" charset="-122"/>
                <a:cs typeface="Geist Bold" pitchFamily="34" charset="-120"/>
              </a:rPr>
              <a:t>Collect</a:t>
            </a:r>
            <a:endParaRPr lang="en-US" sz="1750" dirty="0"/>
          </a:p>
        </p:txBody>
      </p:sp>
      <p:sp>
        <p:nvSpPr>
          <p:cNvPr id="10" name="Text 8"/>
          <p:cNvSpPr/>
          <p:nvPr/>
        </p:nvSpPr>
        <p:spPr>
          <a:xfrm>
            <a:off x="6181074" y="2424410"/>
            <a:ext cx="5349146" cy="227608"/>
          </a:xfrm>
          <a:prstGeom prst="rect">
            <a:avLst/>
          </a:prstGeom>
          <a:noFill/>
          <a:ln/>
        </p:spPr>
        <p:txBody>
          <a:bodyPr wrap="none" lIns="0" tIns="0" rIns="0" bIns="0" rtlCol="0" anchor="t"/>
          <a:lstStyle/>
          <a:p>
            <a:pPr marL="0" indent="0" algn="l">
              <a:lnSpc>
                <a:spcPct val="106000"/>
              </a:lnSpc>
              <a:buNone/>
            </a:pPr>
            <a:r>
              <a:rPr lang="en-US" sz="1400" dirty="0">
                <a:solidFill>
                  <a:srgbClr val="EBEDF0"/>
                </a:solidFill>
                <a:latin typeface="Abadi" panose="020B0604020104020204" pitchFamily="34" charset="0"/>
                <a:ea typeface="Geist" pitchFamily="34" charset="-122"/>
                <a:cs typeface="Geist" pitchFamily="34" charset="-120"/>
              </a:rPr>
              <a:t>Data from multiple sensors is aggregated simultaneously</a:t>
            </a:r>
            <a:endParaRPr lang="en-US" sz="1400" dirty="0"/>
          </a:p>
        </p:txBody>
      </p:sp>
      <p:sp>
        <p:nvSpPr>
          <p:cNvPr id="11" name="Text 9"/>
          <p:cNvSpPr/>
          <p:nvPr/>
        </p:nvSpPr>
        <p:spPr>
          <a:xfrm>
            <a:off x="661475" y="3184823"/>
            <a:ext cx="359064" cy="233362"/>
          </a:xfrm>
          <a:prstGeom prst="rect">
            <a:avLst/>
          </a:prstGeom>
          <a:noFill/>
          <a:ln/>
        </p:spPr>
        <p:txBody>
          <a:bodyPr wrap="none" lIns="0" tIns="0" rIns="0" bIns="0" rtlCol="0" anchor="ctr"/>
          <a:lstStyle/>
          <a:p>
            <a:pPr marL="0" indent="0" algn="l">
              <a:lnSpc>
                <a:spcPct val="100000"/>
              </a:lnSpc>
              <a:buNone/>
            </a:pPr>
            <a:r>
              <a:rPr lang="en-US" sz="1400" kern="0" spc="-28" dirty="0">
                <a:solidFill>
                  <a:srgbClr val="EBEDF0"/>
                </a:solidFill>
                <a:latin typeface="Geist Light" pitchFamily="34" charset="0"/>
                <a:ea typeface="Geist Light" pitchFamily="34" charset="-122"/>
                <a:cs typeface="Geist Light" pitchFamily="34" charset="-120"/>
              </a:rPr>
              <a:t>03</a:t>
            </a:r>
            <a:endParaRPr lang="en-US" sz="1400" dirty="0"/>
          </a:p>
        </p:txBody>
      </p:sp>
      <p:sp>
        <p:nvSpPr>
          <p:cNvPr id="12" name="Shape 10"/>
          <p:cNvSpPr/>
          <p:nvPr/>
        </p:nvSpPr>
        <p:spPr>
          <a:xfrm>
            <a:off x="661475" y="3455591"/>
            <a:ext cx="5349047" cy="25400"/>
          </a:xfrm>
          <a:prstGeom prst="rect">
            <a:avLst/>
          </a:prstGeom>
          <a:solidFill>
            <a:srgbClr val="487CFF"/>
          </a:solidFill>
          <a:ln/>
        </p:spPr>
      </p:sp>
      <p:sp>
        <p:nvSpPr>
          <p:cNvPr id="13" name="Text 11"/>
          <p:cNvSpPr/>
          <p:nvPr/>
        </p:nvSpPr>
        <p:spPr>
          <a:xfrm>
            <a:off x="661475" y="3613944"/>
            <a:ext cx="5349047" cy="291703"/>
          </a:xfrm>
          <a:prstGeom prst="rect">
            <a:avLst/>
          </a:prstGeom>
          <a:noFill/>
          <a:ln/>
        </p:spPr>
        <p:txBody>
          <a:bodyPr wrap="none" lIns="0" tIns="0" rIns="0" bIns="0" rtlCol="0" anchor="t"/>
          <a:lstStyle/>
          <a:p>
            <a:pPr marL="0" indent="0" algn="l">
              <a:lnSpc>
                <a:spcPct val="108000"/>
              </a:lnSpc>
              <a:buNone/>
            </a:pPr>
            <a:r>
              <a:rPr lang="en-US" sz="1750" b="1" kern="0" spc="-35" dirty="0">
                <a:solidFill>
                  <a:srgbClr val="EBEDF0"/>
                </a:solidFill>
                <a:latin typeface="Abadi" panose="020B0604020104020204" pitchFamily="34" charset="0"/>
                <a:ea typeface="Geist Bold" pitchFamily="34" charset="-122"/>
                <a:cs typeface="Geist Bold" pitchFamily="34" charset="-120"/>
              </a:rPr>
              <a:t>Process</a:t>
            </a:r>
            <a:endParaRPr lang="en-US" sz="1750" dirty="0"/>
          </a:p>
        </p:txBody>
      </p:sp>
      <p:sp>
        <p:nvSpPr>
          <p:cNvPr id="14" name="Text 12"/>
          <p:cNvSpPr/>
          <p:nvPr/>
        </p:nvSpPr>
        <p:spPr>
          <a:xfrm>
            <a:off x="661475" y="4007941"/>
            <a:ext cx="5349047" cy="455216"/>
          </a:xfrm>
          <a:prstGeom prst="rect">
            <a:avLst/>
          </a:prstGeom>
          <a:noFill/>
          <a:ln/>
        </p:spPr>
        <p:txBody>
          <a:bodyPr wrap="square" lIns="0" tIns="0" rIns="0" bIns="0" rtlCol="0" anchor="t">
            <a:normAutofit/>
          </a:bodyPr>
          <a:lstStyle/>
          <a:p>
            <a:pPr marL="0" indent="0" algn="l">
              <a:lnSpc>
                <a:spcPct val="106000"/>
              </a:lnSpc>
              <a:buNone/>
            </a:pPr>
            <a:r>
              <a:rPr lang="en-US" sz="1400" dirty="0">
                <a:solidFill>
                  <a:srgbClr val="EBEDF0"/>
                </a:solidFill>
                <a:latin typeface="Abadi" panose="020B0604020104020204" pitchFamily="34" charset="0"/>
                <a:ea typeface="Geist" pitchFamily="34" charset="-122"/>
                <a:cs typeface="Geist" pitchFamily="34" charset="-120"/>
              </a:rPr>
              <a:t>The control system filters noise and analyzes signals to extract relevant information</a:t>
            </a:r>
            <a:endParaRPr lang="en-US" sz="1400" dirty="0"/>
          </a:p>
        </p:txBody>
      </p:sp>
      <p:sp>
        <p:nvSpPr>
          <p:cNvPr id="15" name="Text 13"/>
          <p:cNvSpPr/>
          <p:nvPr/>
        </p:nvSpPr>
        <p:spPr>
          <a:xfrm>
            <a:off x="6181074" y="3184823"/>
            <a:ext cx="359064" cy="233362"/>
          </a:xfrm>
          <a:prstGeom prst="rect">
            <a:avLst/>
          </a:prstGeom>
          <a:noFill/>
          <a:ln/>
        </p:spPr>
        <p:txBody>
          <a:bodyPr wrap="none" lIns="0" tIns="0" rIns="0" bIns="0" rtlCol="0" anchor="ctr"/>
          <a:lstStyle/>
          <a:p>
            <a:pPr marL="0" indent="0" algn="l">
              <a:lnSpc>
                <a:spcPct val="100000"/>
              </a:lnSpc>
              <a:buNone/>
            </a:pPr>
            <a:r>
              <a:rPr lang="en-US" sz="1400" kern="0" spc="-28" dirty="0">
                <a:solidFill>
                  <a:srgbClr val="EBEDF0"/>
                </a:solidFill>
                <a:latin typeface="Geist Light" pitchFamily="34" charset="0"/>
                <a:ea typeface="Geist Light" pitchFamily="34" charset="-122"/>
                <a:cs typeface="Geist Light" pitchFamily="34" charset="-120"/>
              </a:rPr>
              <a:t>04</a:t>
            </a:r>
            <a:endParaRPr lang="en-US" sz="1400" dirty="0"/>
          </a:p>
        </p:txBody>
      </p:sp>
      <p:sp>
        <p:nvSpPr>
          <p:cNvPr id="16" name="Shape 14"/>
          <p:cNvSpPr/>
          <p:nvPr/>
        </p:nvSpPr>
        <p:spPr>
          <a:xfrm>
            <a:off x="6181074" y="3455591"/>
            <a:ext cx="5349146" cy="25400"/>
          </a:xfrm>
          <a:prstGeom prst="rect">
            <a:avLst/>
          </a:prstGeom>
          <a:solidFill>
            <a:srgbClr val="487CFF"/>
          </a:solidFill>
          <a:ln/>
        </p:spPr>
      </p:sp>
      <p:sp>
        <p:nvSpPr>
          <p:cNvPr id="17" name="Text 15"/>
          <p:cNvSpPr/>
          <p:nvPr/>
        </p:nvSpPr>
        <p:spPr>
          <a:xfrm>
            <a:off x="6181074" y="3613944"/>
            <a:ext cx="5349146" cy="291703"/>
          </a:xfrm>
          <a:prstGeom prst="rect">
            <a:avLst/>
          </a:prstGeom>
          <a:noFill/>
          <a:ln/>
        </p:spPr>
        <p:txBody>
          <a:bodyPr wrap="none" lIns="0" tIns="0" rIns="0" bIns="0" rtlCol="0" anchor="t"/>
          <a:lstStyle/>
          <a:p>
            <a:pPr marL="0" indent="0" algn="l">
              <a:lnSpc>
                <a:spcPct val="108000"/>
              </a:lnSpc>
              <a:buNone/>
            </a:pPr>
            <a:r>
              <a:rPr lang="en-US" sz="1750" b="1" kern="0" spc="-35" dirty="0">
                <a:solidFill>
                  <a:srgbClr val="EBEDF0"/>
                </a:solidFill>
                <a:latin typeface="Abadi" panose="020B0604020104020204" pitchFamily="34" charset="0"/>
                <a:ea typeface="Geist Bold" pitchFamily="34" charset="-122"/>
                <a:cs typeface="Geist Bold" pitchFamily="34" charset="-120"/>
              </a:rPr>
              <a:t>Identify</a:t>
            </a:r>
            <a:endParaRPr lang="en-US" sz="1750" dirty="0"/>
          </a:p>
        </p:txBody>
      </p:sp>
      <p:sp>
        <p:nvSpPr>
          <p:cNvPr id="18" name="Text 16"/>
          <p:cNvSpPr/>
          <p:nvPr/>
        </p:nvSpPr>
        <p:spPr>
          <a:xfrm>
            <a:off x="6181074" y="4007941"/>
            <a:ext cx="5349146" cy="455216"/>
          </a:xfrm>
          <a:prstGeom prst="rect">
            <a:avLst/>
          </a:prstGeom>
          <a:noFill/>
          <a:ln/>
        </p:spPr>
        <p:txBody>
          <a:bodyPr wrap="square" lIns="0" tIns="0" rIns="0" bIns="0" rtlCol="0" anchor="t">
            <a:normAutofit/>
          </a:bodyPr>
          <a:lstStyle/>
          <a:p>
            <a:pPr marL="0" indent="0" algn="l">
              <a:lnSpc>
                <a:spcPct val="106000"/>
              </a:lnSpc>
              <a:buNone/>
            </a:pPr>
            <a:r>
              <a:rPr lang="en-US" sz="1400" dirty="0">
                <a:solidFill>
                  <a:srgbClr val="EBEDF0"/>
                </a:solidFill>
                <a:latin typeface="Abadi" panose="020B0604020104020204" pitchFamily="34" charset="0"/>
                <a:ea typeface="Geist" pitchFamily="34" charset="-122"/>
                <a:cs typeface="Geist" pitchFamily="34" charset="-120"/>
              </a:rPr>
              <a:t>The system determines position and maps key environmental features</a:t>
            </a:r>
            <a:endParaRPr lang="en-US" sz="1400" dirty="0"/>
          </a:p>
        </p:txBody>
      </p:sp>
      <p:sp>
        <p:nvSpPr>
          <p:cNvPr id="19" name="Text 17"/>
          <p:cNvSpPr/>
          <p:nvPr/>
        </p:nvSpPr>
        <p:spPr>
          <a:xfrm>
            <a:off x="661475" y="4768354"/>
            <a:ext cx="359064" cy="233362"/>
          </a:xfrm>
          <a:prstGeom prst="rect">
            <a:avLst/>
          </a:prstGeom>
          <a:noFill/>
          <a:ln/>
        </p:spPr>
        <p:txBody>
          <a:bodyPr wrap="none" lIns="0" tIns="0" rIns="0" bIns="0" rtlCol="0" anchor="ctr"/>
          <a:lstStyle/>
          <a:p>
            <a:pPr marL="0" indent="0" algn="l">
              <a:lnSpc>
                <a:spcPct val="100000"/>
              </a:lnSpc>
              <a:buNone/>
            </a:pPr>
            <a:r>
              <a:rPr lang="en-US" sz="1400" kern="0" spc="-28" dirty="0">
                <a:solidFill>
                  <a:srgbClr val="EBEDF0"/>
                </a:solidFill>
                <a:latin typeface="Geist Light" pitchFamily="34" charset="0"/>
                <a:ea typeface="Geist Light" pitchFamily="34" charset="-122"/>
                <a:cs typeface="Geist Light" pitchFamily="34" charset="-120"/>
              </a:rPr>
              <a:t>05</a:t>
            </a:r>
            <a:endParaRPr lang="en-US" sz="1400" dirty="0"/>
          </a:p>
        </p:txBody>
      </p:sp>
      <p:sp>
        <p:nvSpPr>
          <p:cNvPr id="20" name="Shape 18"/>
          <p:cNvSpPr/>
          <p:nvPr/>
        </p:nvSpPr>
        <p:spPr>
          <a:xfrm>
            <a:off x="661475" y="5021163"/>
            <a:ext cx="5349047" cy="25400"/>
          </a:xfrm>
          <a:prstGeom prst="rect">
            <a:avLst/>
          </a:prstGeom>
          <a:solidFill>
            <a:srgbClr val="487CFF"/>
          </a:solidFill>
          <a:ln/>
        </p:spPr>
      </p:sp>
      <p:sp>
        <p:nvSpPr>
          <p:cNvPr id="21" name="Text 19"/>
          <p:cNvSpPr/>
          <p:nvPr/>
        </p:nvSpPr>
        <p:spPr>
          <a:xfrm>
            <a:off x="661475" y="5197475"/>
            <a:ext cx="5349047" cy="291703"/>
          </a:xfrm>
          <a:prstGeom prst="rect">
            <a:avLst/>
          </a:prstGeom>
          <a:noFill/>
          <a:ln/>
        </p:spPr>
        <p:txBody>
          <a:bodyPr wrap="none" lIns="0" tIns="0" rIns="0" bIns="0" rtlCol="0" anchor="t"/>
          <a:lstStyle/>
          <a:p>
            <a:pPr marL="0" indent="0" algn="l">
              <a:lnSpc>
                <a:spcPct val="108000"/>
              </a:lnSpc>
              <a:buNone/>
            </a:pPr>
            <a:r>
              <a:rPr lang="en-US" sz="1750" b="1" kern="0" spc="-35" dirty="0">
                <a:solidFill>
                  <a:srgbClr val="EBEDF0"/>
                </a:solidFill>
                <a:latin typeface="Abadi" panose="020B0604020104020204" pitchFamily="34" charset="0"/>
                <a:ea typeface="Geist Bold" pitchFamily="34" charset="-122"/>
                <a:cs typeface="Geist Bold" pitchFamily="34" charset="-120"/>
              </a:rPr>
              <a:t>Plan</a:t>
            </a:r>
            <a:endParaRPr lang="en-US" sz="1750" dirty="0"/>
          </a:p>
        </p:txBody>
      </p:sp>
      <p:sp>
        <p:nvSpPr>
          <p:cNvPr id="22" name="Text 20"/>
          <p:cNvSpPr/>
          <p:nvPr/>
        </p:nvSpPr>
        <p:spPr>
          <a:xfrm>
            <a:off x="661475" y="5591473"/>
            <a:ext cx="5349047" cy="455216"/>
          </a:xfrm>
          <a:prstGeom prst="rect">
            <a:avLst/>
          </a:prstGeom>
          <a:noFill/>
          <a:ln/>
        </p:spPr>
        <p:txBody>
          <a:bodyPr wrap="square" lIns="0" tIns="0" rIns="0" bIns="0" rtlCol="0" anchor="t">
            <a:normAutofit/>
          </a:bodyPr>
          <a:lstStyle/>
          <a:p>
            <a:pPr marL="0" indent="0" algn="l">
              <a:lnSpc>
                <a:spcPct val="106000"/>
              </a:lnSpc>
              <a:buNone/>
            </a:pPr>
            <a:r>
              <a:rPr lang="en-US" sz="1400" dirty="0">
                <a:solidFill>
                  <a:srgbClr val="EBEDF0"/>
                </a:solidFill>
                <a:latin typeface="Abadi" panose="020B0604020104020204" pitchFamily="34" charset="0"/>
                <a:ea typeface="Geist" pitchFamily="34" charset="-122"/>
                <a:cs typeface="Geist" pitchFamily="34" charset="-120"/>
              </a:rPr>
              <a:t>An optimal and safe trajectory is calculated toward the destination</a:t>
            </a:r>
            <a:endParaRPr lang="en-US" sz="1400" dirty="0"/>
          </a:p>
        </p:txBody>
      </p:sp>
      <p:sp>
        <p:nvSpPr>
          <p:cNvPr id="23" name="Text 21"/>
          <p:cNvSpPr/>
          <p:nvPr/>
        </p:nvSpPr>
        <p:spPr>
          <a:xfrm>
            <a:off x="6181074" y="4768354"/>
            <a:ext cx="359064" cy="233362"/>
          </a:xfrm>
          <a:prstGeom prst="rect">
            <a:avLst/>
          </a:prstGeom>
          <a:noFill/>
          <a:ln/>
        </p:spPr>
        <p:txBody>
          <a:bodyPr wrap="none" lIns="0" tIns="0" rIns="0" bIns="0" rtlCol="0" anchor="ctr"/>
          <a:lstStyle/>
          <a:p>
            <a:pPr marL="0" indent="0" algn="l">
              <a:lnSpc>
                <a:spcPct val="100000"/>
              </a:lnSpc>
              <a:buNone/>
            </a:pPr>
            <a:r>
              <a:rPr lang="en-US" sz="1400" kern="0" spc="-28" dirty="0">
                <a:solidFill>
                  <a:srgbClr val="EBEDF0"/>
                </a:solidFill>
                <a:latin typeface="Geist Light" pitchFamily="34" charset="0"/>
                <a:ea typeface="Geist Light" pitchFamily="34" charset="-122"/>
                <a:cs typeface="Geist Light" pitchFamily="34" charset="-120"/>
              </a:rPr>
              <a:t>06</a:t>
            </a:r>
            <a:endParaRPr lang="en-US" sz="1400" dirty="0"/>
          </a:p>
        </p:txBody>
      </p:sp>
      <p:sp>
        <p:nvSpPr>
          <p:cNvPr id="24" name="Shape 22"/>
          <p:cNvSpPr/>
          <p:nvPr/>
        </p:nvSpPr>
        <p:spPr>
          <a:xfrm>
            <a:off x="6181074" y="5021163"/>
            <a:ext cx="5349146" cy="25400"/>
          </a:xfrm>
          <a:prstGeom prst="rect">
            <a:avLst/>
          </a:prstGeom>
          <a:solidFill>
            <a:srgbClr val="487CFF"/>
          </a:solidFill>
          <a:ln/>
        </p:spPr>
      </p:sp>
      <p:sp>
        <p:nvSpPr>
          <p:cNvPr id="25" name="Text 23"/>
          <p:cNvSpPr/>
          <p:nvPr/>
        </p:nvSpPr>
        <p:spPr>
          <a:xfrm>
            <a:off x="6181074" y="5197475"/>
            <a:ext cx="5349146" cy="291703"/>
          </a:xfrm>
          <a:prstGeom prst="rect">
            <a:avLst/>
          </a:prstGeom>
          <a:noFill/>
          <a:ln/>
        </p:spPr>
        <p:txBody>
          <a:bodyPr wrap="none" lIns="0" tIns="0" rIns="0" bIns="0" rtlCol="0" anchor="t"/>
          <a:lstStyle/>
          <a:p>
            <a:pPr marL="0" indent="0" algn="l">
              <a:lnSpc>
                <a:spcPct val="108000"/>
              </a:lnSpc>
              <a:buNone/>
            </a:pPr>
            <a:r>
              <a:rPr lang="en-US" sz="1750" b="1" kern="0" spc="-35" dirty="0">
                <a:solidFill>
                  <a:srgbClr val="EBEDF0"/>
                </a:solidFill>
                <a:latin typeface="Abadi" panose="020B0604020104020204" pitchFamily="34" charset="0"/>
                <a:ea typeface="Geist Bold" pitchFamily="34" charset="-122"/>
                <a:cs typeface="Geist Bold" pitchFamily="34" charset="-120"/>
              </a:rPr>
              <a:t>Move &amp; Loop</a:t>
            </a:r>
            <a:endParaRPr lang="en-US" sz="1750" dirty="0"/>
          </a:p>
        </p:txBody>
      </p:sp>
      <p:sp>
        <p:nvSpPr>
          <p:cNvPr id="26" name="Text 24"/>
          <p:cNvSpPr/>
          <p:nvPr/>
        </p:nvSpPr>
        <p:spPr>
          <a:xfrm>
            <a:off x="6181074" y="5591473"/>
            <a:ext cx="5349146" cy="455216"/>
          </a:xfrm>
          <a:prstGeom prst="rect">
            <a:avLst/>
          </a:prstGeom>
          <a:noFill/>
          <a:ln/>
        </p:spPr>
        <p:txBody>
          <a:bodyPr wrap="square" lIns="0" tIns="0" rIns="0" bIns="0" rtlCol="0" anchor="t">
            <a:normAutofit/>
          </a:bodyPr>
          <a:lstStyle/>
          <a:p>
            <a:pPr marL="0" indent="0" algn="l">
              <a:lnSpc>
                <a:spcPct val="106000"/>
              </a:lnSpc>
              <a:buNone/>
            </a:pPr>
            <a:r>
              <a:rPr lang="en-US" sz="1400" dirty="0">
                <a:solidFill>
                  <a:srgbClr val="EBEDF0"/>
                </a:solidFill>
                <a:latin typeface="Abadi" panose="020B0604020104020204" pitchFamily="34" charset="0"/>
                <a:ea typeface="Geist" pitchFamily="34" charset="-122"/>
                <a:cs typeface="Geist" pitchFamily="34" charset="-120"/>
              </a:rPr>
              <a:t>Actuators execute movement commands while continuous sensor feedback enables adaptive control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62682"/>
            <a:ext cx="10868745" cy="430014"/>
          </a:xfrm>
          <a:prstGeom prst="rect">
            <a:avLst/>
          </a:prstGeom>
          <a:noFill/>
          <a:ln/>
        </p:spPr>
        <p:txBody>
          <a:bodyPr wrap="none" lIns="0" tIns="0" rIns="0" bIns="0" rtlCol="0" anchor="t"/>
          <a:lstStyle/>
          <a:p>
            <a:pPr marL="0" indent="0" algn="l">
              <a:lnSpc>
                <a:spcPct val="108000"/>
              </a:lnSpc>
              <a:buNone/>
            </a:pPr>
            <a:r>
              <a:rPr lang="en-US" sz="2600" b="1" kern="0" spc="-52" dirty="0">
                <a:solidFill>
                  <a:srgbClr val="F2F5FA"/>
                </a:solidFill>
                <a:latin typeface="Abadi" panose="020B0604020104020204" pitchFamily="34" charset="0"/>
                <a:ea typeface="Geist Bold" pitchFamily="34" charset="-122"/>
                <a:cs typeface="Geist Bold" pitchFamily="34" charset="-120"/>
              </a:rPr>
              <a:t>Navigation Pipeline</a:t>
            </a:r>
            <a:endParaRPr lang="en-US" sz="2600" dirty="0"/>
          </a:p>
        </p:txBody>
      </p:sp>
      <p:sp>
        <p:nvSpPr>
          <p:cNvPr id="3" name="Text 1"/>
          <p:cNvSpPr/>
          <p:nvPr/>
        </p:nvSpPr>
        <p:spPr>
          <a:xfrm>
            <a:off x="661475" y="1092696"/>
            <a:ext cx="10868745" cy="623987"/>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EBEDF0"/>
                </a:solidFill>
                <a:latin typeface="Abadi" panose="020B0604020104020204" pitchFamily="34" charset="0"/>
                <a:ea typeface="Geist" pitchFamily="34" charset="-122"/>
                <a:cs typeface="Geist" pitchFamily="34" charset="-120"/>
              </a:rPr>
              <a:t>The navigation pipeline is a structured sequence of perception, computation, and control operations that enables autonomous robot motion. Each stage transforms environmental information </a:t>
            </a:r>
            <a:r>
              <a:rPr lang="en-US" sz="1600" dirty="0">
                <a:solidFill>
                  <a:srgbClr val="EBEDF0"/>
                </a:solidFill>
                <a:latin typeface="Abadi" panose="020B0604020104020204" pitchFamily="34" charset="0"/>
                <a:ea typeface="Geist" pitchFamily="34" charset="-122"/>
                <a:cs typeface="Geist" pitchFamily="34" charset="-120"/>
              </a:rPr>
              <a:t>into</a:t>
            </a:r>
            <a:r>
              <a:rPr lang="en-US" sz="1400" dirty="0">
                <a:solidFill>
                  <a:srgbClr val="EBEDF0"/>
                </a:solidFill>
                <a:latin typeface="Abadi" panose="020B0604020104020204" pitchFamily="34" charset="0"/>
                <a:ea typeface="Geist" pitchFamily="34" charset="-122"/>
                <a:cs typeface="Geist" pitchFamily="34" charset="-120"/>
              </a:rPr>
              <a:t> increasingly actionable outputs, culminating in safe, goal-directed movement.</a:t>
            </a:r>
            <a:endParaRPr lang="en-US" sz="1400" dirty="0"/>
          </a:p>
        </p:txBody>
      </p:sp>
      <p:pic>
        <p:nvPicPr>
          <p:cNvPr id="4" name="Image 0" descr="preencoded.png"/>
          <p:cNvPicPr>
            <a:picLocks noChangeAspect="1"/>
          </p:cNvPicPr>
          <p:nvPr/>
        </p:nvPicPr>
        <p:blipFill>
          <a:blip r:embed="rId3"/>
          <a:stretch>
            <a:fillRect/>
          </a:stretch>
        </p:blipFill>
        <p:spPr>
          <a:xfrm>
            <a:off x="661475" y="1778794"/>
            <a:ext cx="4470362" cy="3769420"/>
          </a:xfrm>
          <a:prstGeom prst="rect">
            <a:avLst/>
          </a:prstGeom>
        </p:spPr>
      </p:pic>
      <p:sp>
        <p:nvSpPr>
          <p:cNvPr id="5" name="Text 2"/>
          <p:cNvSpPr/>
          <p:nvPr/>
        </p:nvSpPr>
        <p:spPr>
          <a:xfrm>
            <a:off x="5750189" y="1764446"/>
            <a:ext cx="5161131" cy="215007"/>
          </a:xfrm>
          <a:prstGeom prst="rect">
            <a:avLst/>
          </a:prstGeom>
          <a:noFill/>
          <a:ln/>
        </p:spPr>
        <p:txBody>
          <a:bodyPr wrap="none" lIns="0" tIns="0" rIns="0" bIns="0" rtlCol="0" anchor="t"/>
          <a:lstStyle/>
          <a:p>
            <a:pPr marL="0" indent="0" algn="l">
              <a:lnSpc>
                <a:spcPct val="108000"/>
              </a:lnSpc>
              <a:buNone/>
            </a:pPr>
            <a:r>
              <a:rPr lang="en-US" sz="1600" b="1" kern="0" spc="-26" dirty="0">
                <a:solidFill>
                  <a:srgbClr val="F2F5FA"/>
                </a:solidFill>
                <a:latin typeface="Abadi" panose="020B0604020104020204" pitchFamily="34" charset="0"/>
                <a:ea typeface="Geist Bold" pitchFamily="34" charset="-122"/>
                <a:cs typeface="Geist Bold" pitchFamily="34" charset="-120"/>
              </a:rPr>
              <a:t>Stage-by-Stage Overview</a:t>
            </a:r>
            <a:endParaRPr lang="en-US" sz="1600" dirty="0"/>
          </a:p>
        </p:txBody>
      </p:sp>
      <p:sp>
        <p:nvSpPr>
          <p:cNvPr id="6" name="Text 3"/>
          <p:cNvSpPr/>
          <p:nvPr/>
        </p:nvSpPr>
        <p:spPr>
          <a:xfrm>
            <a:off x="5673012" y="2276669"/>
            <a:ext cx="5863459" cy="2276669"/>
          </a:xfrm>
          <a:prstGeom prst="rect">
            <a:avLst/>
          </a:prstGeom>
          <a:noFill/>
          <a:ln/>
        </p:spPr>
        <p:txBody>
          <a:bodyPr wrap="square" lIns="0" tIns="0" rIns="0" bIns="0" rtlCol="0" anchor="t">
            <a:normAutofit/>
          </a:bodyPr>
          <a:lstStyle/>
          <a:p>
            <a:pPr marL="203200" indent="-203200" algn="l">
              <a:lnSpc>
                <a:spcPct val="92000"/>
              </a:lnSpc>
              <a:buSzPct val="100000"/>
              <a:buChar char="•"/>
            </a:pPr>
            <a:r>
              <a:rPr lang="en-US" sz="1400" b="1" dirty="0">
                <a:solidFill>
                  <a:srgbClr val="EBEDF0"/>
                </a:solidFill>
                <a:latin typeface="Abadi" panose="020B0604020104020204" pitchFamily="34" charset="0"/>
                <a:ea typeface="Geist Bold" pitchFamily="34" charset="-122"/>
                <a:cs typeface="Geist Bold" pitchFamily="34" charset="-120"/>
              </a:rPr>
              <a:t>Sensing:</a:t>
            </a:r>
            <a:r>
              <a:rPr lang="en-US" sz="1400" dirty="0">
                <a:solidFill>
                  <a:srgbClr val="EBEDF0"/>
                </a:solidFill>
                <a:latin typeface="Abadi" panose="020B0604020104020204" pitchFamily="34" charset="0"/>
                <a:ea typeface="Geist" pitchFamily="34" charset="-122"/>
                <a:cs typeface="Geist" pitchFamily="34" charset="-120"/>
              </a:rPr>
              <a:t> Collect raw environmental data from onboard sensors</a:t>
            </a:r>
            <a:endParaRPr lang="en-US" sz="1400" dirty="0"/>
          </a:p>
          <a:p>
            <a:pPr marL="203200" indent="-203200" algn="l">
              <a:lnSpc>
                <a:spcPct val="92000"/>
              </a:lnSpc>
              <a:buSzPct val="100000"/>
              <a:buChar char="•"/>
            </a:pPr>
            <a:r>
              <a:rPr lang="en-US" sz="1400" b="1" dirty="0">
                <a:solidFill>
                  <a:srgbClr val="EBEDF0"/>
                </a:solidFill>
                <a:latin typeface="Abadi" panose="020B0604020104020204" pitchFamily="34" charset="0"/>
                <a:ea typeface="Geist Bold" pitchFamily="34" charset="-122"/>
                <a:cs typeface="Geist Bold" pitchFamily="34" charset="-120"/>
              </a:rPr>
              <a:t>Data Processing:</a:t>
            </a:r>
            <a:r>
              <a:rPr lang="en-US" sz="1400" dirty="0">
                <a:solidFill>
                  <a:srgbClr val="EBEDF0"/>
                </a:solidFill>
                <a:latin typeface="Abadi" panose="020B0604020104020204" pitchFamily="34" charset="0"/>
                <a:ea typeface="Geist" pitchFamily="34" charset="-122"/>
                <a:cs typeface="Geist" pitchFamily="34" charset="-120"/>
              </a:rPr>
              <a:t> Filter noise and analyze signals to extract relevant information</a:t>
            </a:r>
            <a:endParaRPr lang="en-US" sz="1400" dirty="0"/>
          </a:p>
          <a:p>
            <a:pPr marL="203200" indent="-203200" algn="l">
              <a:lnSpc>
                <a:spcPct val="92000"/>
              </a:lnSpc>
              <a:buSzPct val="100000"/>
              <a:buChar char="•"/>
            </a:pPr>
            <a:r>
              <a:rPr lang="en-US" sz="1400" b="1" dirty="0">
                <a:solidFill>
                  <a:srgbClr val="EBEDF0"/>
                </a:solidFill>
                <a:latin typeface="Abadi" panose="020B0604020104020204" pitchFamily="34" charset="0"/>
                <a:ea typeface="Geist Bold" pitchFamily="34" charset="-122"/>
                <a:cs typeface="Geist Bold" pitchFamily="34" charset="-120"/>
              </a:rPr>
              <a:t>Localization:</a:t>
            </a:r>
            <a:r>
              <a:rPr lang="en-US" sz="1400" dirty="0">
                <a:solidFill>
                  <a:srgbClr val="EBEDF0"/>
                </a:solidFill>
                <a:latin typeface="Abadi" panose="020B0604020104020204" pitchFamily="34" charset="0"/>
                <a:ea typeface="Geist" pitchFamily="34" charset="-122"/>
                <a:cs typeface="Geist" pitchFamily="34" charset="-120"/>
              </a:rPr>
              <a:t> Estimate the robot’s current position within the environment</a:t>
            </a:r>
            <a:endParaRPr lang="en-US" sz="1400" dirty="0"/>
          </a:p>
          <a:p>
            <a:pPr marL="203200" indent="-203200" algn="l">
              <a:lnSpc>
                <a:spcPct val="92000"/>
              </a:lnSpc>
              <a:buSzPct val="100000"/>
              <a:buChar char="•"/>
            </a:pPr>
            <a:r>
              <a:rPr lang="en-US" sz="1400" b="1" dirty="0">
                <a:solidFill>
                  <a:srgbClr val="EBEDF0"/>
                </a:solidFill>
                <a:latin typeface="Abadi" panose="020B0604020104020204" pitchFamily="34" charset="0"/>
                <a:ea typeface="Geist Bold" pitchFamily="34" charset="-122"/>
                <a:cs typeface="Geist Bold" pitchFamily="34" charset="-120"/>
              </a:rPr>
              <a:t>Mapping:</a:t>
            </a:r>
            <a:r>
              <a:rPr lang="en-US" sz="1400" dirty="0">
                <a:solidFill>
                  <a:srgbClr val="EBEDF0"/>
                </a:solidFill>
                <a:latin typeface="Abadi" panose="020B0604020104020204" pitchFamily="34" charset="0"/>
                <a:ea typeface="Geist" pitchFamily="34" charset="-122"/>
                <a:cs typeface="Geist" pitchFamily="34" charset="-120"/>
              </a:rPr>
              <a:t> Construct or update a spatial representation of the surroundings</a:t>
            </a:r>
            <a:endParaRPr lang="en-US" sz="1400" dirty="0"/>
          </a:p>
          <a:p>
            <a:pPr marL="203200" indent="-203200" algn="l">
              <a:lnSpc>
                <a:spcPct val="92000"/>
              </a:lnSpc>
              <a:buSzPct val="100000"/>
              <a:buChar char="•"/>
            </a:pPr>
            <a:r>
              <a:rPr lang="en-US" sz="1400" b="1" dirty="0">
                <a:solidFill>
                  <a:srgbClr val="EBEDF0"/>
                </a:solidFill>
                <a:latin typeface="Abadi" panose="020B0604020104020204" pitchFamily="34" charset="0"/>
                <a:ea typeface="Geist Bold" pitchFamily="34" charset="-122"/>
                <a:cs typeface="Geist Bold" pitchFamily="34" charset="-120"/>
              </a:rPr>
              <a:t>Path Planning:</a:t>
            </a:r>
            <a:r>
              <a:rPr lang="en-US" sz="1400" dirty="0">
                <a:solidFill>
                  <a:srgbClr val="EBEDF0"/>
                </a:solidFill>
                <a:latin typeface="Abadi" panose="020B0604020104020204" pitchFamily="34" charset="0"/>
                <a:ea typeface="Geist" pitchFamily="34" charset="-122"/>
                <a:cs typeface="Geist" pitchFamily="34" charset="-120"/>
              </a:rPr>
              <a:t> Compute the safest and most efficient route to the target</a:t>
            </a:r>
            <a:endParaRPr lang="en-US" sz="1400" dirty="0"/>
          </a:p>
          <a:p>
            <a:pPr marL="203200" indent="-203200" algn="l">
              <a:lnSpc>
                <a:spcPct val="92000"/>
              </a:lnSpc>
              <a:buSzPct val="100000"/>
              <a:buChar char="•"/>
            </a:pPr>
            <a:r>
              <a:rPr lang="en-US" sz="1400" b="1" dirty="0">
                <a:solidFill>
                  <a:srgbClr val="EBEDF0"/>
                </a:solidFill>
                <a:latin typeface="Abadi" panose="020B0604020104020204" pitchFamily="34" charset="0"/>
                <a:ea typeface="Geist Bold" pitchFamily="34" charset="-122"/>
                <a:cs typeface="Geist Bold" pitchFamily="34" charset="-120"/>
              </a:rPr>
              <a:t>Motion Control:</a:t>
            </a:r>
            <a:r>
              <a:rPr lang="en-US" sz="1400" dirty="0">
                <a:solidFill>
                  <a:srgbClr val="EBEDF0"/>
                </a:solidFill>
                <a:latin typeface="Abadi" panose="020B0604020104020204" pitchFamily="34" charset="0"/>
                <a:ea typeface="Geist" pitchFamily="34" charset="-122"/>
                <a:cs typeface="Geist" pitchFamily="34" charset="-120"/>
              </a:rPr>
              <a:t> Translate the planned trajectory into actuator commands</a:t>
            </a:r>
            <a:endParaRPr lang="en-US" sz="1400" dirty="0"/>
          </a:p>
          <a:p>
            <a:pPr marL="203200" indent="-203200" algn="l">
              <a:lnSpc>
                <a:spcPct val="92000"/>
              </a:lnSpc>
              <a:buSzPct val="100000"/>
              <a:buChar char="•"/>
            </a:pPr>
            <a:r>
              <a:rPr lang="en-US" sz="1400" b="1" dirty="0">
                <a:solidFill>
                  <a:srgbClr val="EBEDF0"/>
                </a:solidFill>
                <a:latin typeface="Abadi" panose="020B0604020104020204" pitchFamily="34" charset="0"/>
                <a:ea typeface="Geist Bold" pitchFamily="34" charset="-122"/>
                <a:cs typeface="Geist Bold" pitchFamily="34" charset="-120"/>
              </a:rPr>
              <a:t>Movement:</a:t>
            </a:r>
            <a:r>
              <a:rPr lang="en-US" sz="1400" dirty="0">
                <a:solidFill>
                  <a:srgbClr val="EBEDF0"/>
                </a:solidFill>
                <a:latin typeface="Abadi" panose="020B0604020104020204" pitchFamily="34" charset="0"/>
                <a:ea typeface="Geist" pitchFamily="34" charset="-122"/>
                <a:cs typeface="Geist" pitchFamily="34" charset="-120"/>
              </a:rPr>
              <a:t> Execute the path and travel through the environment</a:t>
            </a:r>
            <a:endParaRPr lang="en-US" sz="1400" dirty="0"/>
          </a:p>
        </p:txBody>
      </p:sp>
      <p:sp>
        <p:nvSpPr>
          <p:cNvPr id="7" name="Text 4"/>
          <p:cNvSpPr/>
          <p:nvPr/>
        </p:nvSpPr>
        <p:spPr>
          <a:xfrm>
            <a:off x="661475" y="5756573"/>
            <a:ext cx="10868745" cy="623987"/>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EBEDF0"/>
                </a:solidFill>
                <a:latin typeface="Abadi" panose="020B0604020104020204" pitchFamily="34" charset="0"/>
                <a:ea typeface="Geist" pitchFamily="34" charset="-122"/>
                <a:cs typeface="Geist" pitchFamily="34" charset="-120"/>
              </a:rPr>
              <a:t>In autonomous navigation, each stage depends on the accuracy and reliability of the previous one. Sensing provides the raw inputs, processing refines them, localization and mapping establish situational awareness, and path planning with motion control produces coordinated movement. Together, these components support systematic, repeatable, and robust robotic navigation.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50875"/>
            <a:ext cx="10868745" cy="491430"/>
          </a:xfrm>
          <a:prstGeom prst="rect">
            <a:avLst/>
          </a:prstGeom>
          <a:noFill/>
          <a:ln/>
        </p:spPr>
        <p:txBody>
          <a:bodyPr wrap="none" lIns="0" tIns="0" rIns="0" bIns="0" rtlCol="0" anchor="t"/>
          <a:lstStyle/>
          <a:p>
            <a:pPr marL="0" indent="0" algn="l">
              <a:lnSpc>
                <a:spcPct val="108000"/>
              </a:lnSpc>
              <a:buNone/>
            </a:pPr>
            <a:r>
              <a:rPr lang="en-US" sz="2950" b="1" kern="0" spc="-60" dirty="0">
                <a:solidFill>
                  <a:srgbClr val="F2F5FA"/>
                </a:solidFill>
                <a:latin typeface="Abadi" panose="020B0604020104020204" pitchFamily="34" charset="0"/>
                <a:ea typeface="Geist Bold" pitchFamily="34" charset="-122"/>
                <a:cs typeface="Geist Bold" pitchFamily="34" charset="-120"/>
              </a:rPr>
              <a:t>Navigation Methods</a:t>
            </a:r>
            <a:endParaRPr lang="en-US" sz="2950" dirty="0"/>
          </a:p>
        </p:txBody>
      </p:sp>
      <p:pic>
        <p:nvPicPr>
          <p:cNvPr id="3" name="Image 0" descr="preencoded.png"/>
          <p:cNvPicPr>
            <a:picLocks noChangeAspect="1"/>
          </p:cNvPicPr>
          <p:nvPr/>
        </p:nvPicPr>
        <p:blipFill>
          <a:blip r:embed="rId3"/>
          <a:stretch>
            <a:fillRect/>
          </a:stretch>
        </p:blipFill>
        <p:spPr>
          <a:xfrm>
            <a:off x="961703" y="2564408"/>
            <a:ext cx="2401827" cy="2401888"/>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9094" y="1459706"/>
            <a:ext cx="2418496" cy="1483519"/>
          </a:xfrm>
          <a:prstGeom prst="rect">
            <a:avLst/>
          </a:prstGeom>
        </p:spPr>
      </p:pic>
      <p:sp>
        <p:nvSpPr>
          <p:cNvPr id="5" name="Text 1"/>
          <p:cNvSpPr/>
          <p:nvPr/>
        </p:nvSpPr>
        <p:spPr>
          <a:xfrm>
            <a:off x="4285547" y="1629966"/>
            <a:ext cx="2001787"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Obstacle Avoidance</a:t>
            </a:r>
            <a:endParaRPr lang="en-US" sz="1450" dirty="0"/>
          </a:p>
        </p:txBody>
      </p:sp>
      <p:sp>
        <p:nvSpPr>
          <p:cNvPr id="6" name="Text 2"/>
          <p:cNvSpPr/>
          <p:nvPr/>
        </p:nvSpPr>
        <p:spPr>
          <a:xfrm>
            <a:off x="4285547" y="1996579"/>
            <a:ext cx="2001787" cy="690637"/>
          </a:xfrm>
          <a:prstGeom prst="rect">
            <a:avLst/>
          </a:prstGeom>
          <a:noFill/>
          <a:ln/>
        </p:spPr>
        <p:txBody>
          <a:bodyPr wrap="square" lIns="0" tIns="0" rIns="0" bIns="0" rtlCol="0" anchor="t">
            <a:normAutofit/>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Real-time detection and dynamic avoidance of environmental obstacles</a:t>
            </a:r>
            <a:endParaRPr lang="en-US" sz="12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78535" y="1459706"/>
            <a:ext cx="2418496" cy="1483519"/>
          </a:xfrm>
          <a:prstGeom prst="rect">
            <a:avLst/>
          </a:prstGeom>
        </p:spPr>
      </p:pic>
      <p:sp>
        <p:nvSpPr>
          <p:cNvPr id="8" name="Text 3"/>
          <p:cNvSpPr/>
          <p:nvPr/>
        </p:nvSpPr>
        <p:spPr>
          <a:xfrm>
            <a:off x="6824988" y="1629966"/>
            <a:ext cx="2001787"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Line-Following</a:t>
            </a:r>
            <a:endParaRPr lang="en-US" sz="1450" dirty="0"/>
          </a:p>
        </p:txBody>
      </p:sp>
      <p:sp>
        <p:nvSpPr>
          <p:cNvPr id="9" name="Text 4"/>
          <p:cNvSpPr/>
          <p:nvPr/>
        </p:nvSpPr>
        <p:spPr>
          <a:xfrm>
            <a:off x="6824988" y="1996579"/>
            <a:ext cx="2001787" cy="690637"/>
          </a:xfrm>
          <a:prstGeom prst="rect">
            <a:avLst/>
          </a:prstGeom>
          <a:noFill/>
          <a:ln/>
        </p:spPr>
        <p:txBody>
          <a:bodyPr wrap="square" lIns="0" tIns="0" rIns="0" bIns="0" rtlCol="0" anchor="t">
            <a:normAutofit/>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Trajectory tracking along predefined paths or visual markers</a:t>
            </a:r>
            <a:endParaRPr lang="en-US" sz="12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17975" y="1459706"/>
            <a:ext cx="2418496" cy="1483519"/>
          </a:xfrm>
          <a:prstGeom prst="rect">
            <a:avLst/>
          </a:prstGeom>
        </p:spPr>
      </p:pic>
      <p:sp>
        <p:nvSpPr>
          <p:cNvPr id="11" name="Text 5"/>
          <p:cNvSpPr/>
          <p:nvPr/>
        </p:nvSpPr>
        <p:spPr>
          <a:xfrm>
            <a:off x="9364428" y="1629966"/>
            <a:ext cx="2001787" cy="491331"/>
          </a:xfrm>
          <a:prstGeom prst="rect">
            <a:avLst/>
          </a:prstGeom>
          <a:noFill/>
          <a:ln/>
        </p:spPr>
        <p:txBody>
          <a:bodyPr wrap="square" lIns="0" tIns="0" rIns="0" bIns="0" rtlCol="0" anchor="t">
            <a:normAutofit/>
          </a:bodyPr>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GPS-Based Navigation</a:t>
            </a:r>
            <a:endParaRPr lang="en-US" sz="1450" dirty="0"/>
          </a:p>
        </p:txBody>
      </p:sp>
      <p:sp>
        <p:nvSpPr>
          <p:cNvPr id="12" name="Text 6"/>
          <p:cNvSpPr/>
          <p:nvPr/>
        </p:nvSpPr>
        <p:spPr>
          <a:xfrm>
            <a:off x="9364428" y="2242245"/>
            <a:ext cx="2001787" cy="530721"/>
          </a:xfrm>
          <a:prstGeom prst="rect">
            <a:avLst/>
          </a:prstGeom>
          <a:noFill/>
          <a:ln/>
        </p:spPr>
        <p:txBody>
          <a:bodyPr wrap="square" lIns="0" tIns="0" rIns="0" bIns="0" rtlCol="0" anchor="t">
            <a:normAutofit lnSpcReduction="10000"/>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Global Positioning System (GPS) guidance for outdoor environments</a:t>
            </a:r>
            <a:endParaRPr lang="en-US" sz="12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39094" y="3064173"/>
            <a:ext cx="2418496" cy="3006923"/>
          </a:xfrm>
          <a:prstGeom prst="rect">
            <a:avLst/>
          </a:prstGeom>
        </p:spPr>
      </p:pic>
      <p:sp>
        <p:nvSpPr>
          <p:cNvPr id="14" name="Text 7"/>
          <p:cNvSpPr/>
          <p:nvPr/>
        </p:nvSpPr>
        <p:spPr>
          <a:xfrm>
            <a:off x="4285547" y="3234432"/>
            <a:ext cx="2001787" cy="491331"/>
          </a:xfrm>
          <a:prstGeom prst="rect">
            <a:avLst/>
          </a:prstGeom>
          <a:noFill/>
          <a:ln/>
        </p:spPr>
        <p:txBody>
          <a:bodyPr wrap="square" lIns="0" tIns="0" rIns="0" bIns="0" rtlCol="0" anchor="t">
            <a:normAutofit/>
          </a:bodyPr>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Landmark-Based Navigation</a:t>
            </a:r>
            <a:endParaRPr lang="en-US" sz="1450" dirty="0"/>
          </a:p>
        </p:txBody>
      </p:sp>
      <p:sp>
        <p:nvSpPr>
          <p:cNvPr id="15" name="Text 8"/>
          <p:cNvSpPr/>
          <p:nvPr/>
        </p:nvSpPr>
        <p:spPr>
          <a:xfrm>
            <a:off x="4285547" y="3846711"/>
            <a:ext cx="2001787" cy="799934"/>
          </a:xfrm>
          <a:prstGeom prst="rect">
            <a:avLst/>
          </a:prstGeom>
          <a:noFill/>
          <a:ln/>
        </p:spPr>
        <p:txBody>
          <a:bodyPr wrap="square" lIns="0" tIns="0" rIns="0" bIns="0" rtlCol="0" anchor="t">
            <a:normAutofit/>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Navigation using recognition and localization of known environmental features</a:t>
            </a:r>
            <a:endParaRPr lang="en-US" sz="1200" dirty="0"/>
          </a:p>
        </p:txBody>
      </p:sp>
      <p:pic>
        <p:nvPicPr>
          <p:cNvPr id="16"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8535" y="3064173"/>
            <a:ext cx="2418496" cy="3006923"/>
          </a:xfrm>
          <a:prstGeom prst="rect">
            <a:avLst/>
          </a:prstGeom>
        </p:spPr>
      </p:pic>
      <p:sp>
        <p:nvSpPr>
          <p:cNvPr id="17" name="Text 9"/>
          <p:cNvSpPr/>
          <p:nvPr/>
        </p:nvSpPr>
        <p:spPr>
          <a:xfrm>
            <a:off x="6824988" y="3234432"/>
            <a:ext cx="2001787"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Path Planning</a:t>
            </a:r>
            <a:endParaRPr lang="en-US" sz="1450" dirty="0"/>
          </a:p>
        </p:txBody>
      </p:sp>
      <p:sp>
        <p:nvSpPr>
          <p:cNvPr id="18" name="Text 10"/>
          <p:cNvSpPr/>
          <p:nvPr/>
        </p:nvSpPr>
        <p:spPr>
          <a:xfrm>
            <a:off x="6824988" y="3601045"/>
            <a:ext cx="2001787" cy="635053"/>
          </a:xfrm>
          <a:prstGeom prst="rect">
            <a:avLst/>
          </a:prstGeom>
          <a:noFill/>
          <a:ln/>
        </p:spPr>
        <p:txBody>
          <a:bodyPr wrap="square" lIns="0" tIns="0" rIns="0" bIns="0" rtlCol="0" anchor="t">
            <a:normAutofit/>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Pre-computed optimal trajectory generation prior to movement execution</a:t>
            </a:r>
            <a:endParaRPr lang="en-US" sz="1200" dirty="0"/>
          </a:p>
        </p:txBody>
      </p:sp>
      <p:pic>
        <p:nvPicPr>
          <p:cNvPr id="19"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17975" y="3064173"/>
            <a:ext cx="2418496" cy="3006923"/>
          </a:xfrm>
          <a:prstGeom prst="rect">
            <a:avLst/>
          </a:prstGeom>
        </p:spPr>
      </p:pic>
      <p:sp>
        <p:nvSpPr>
          <p:cNvPr id="20" name="Text 11"/>
          <p:cNvSpPr/>
          <p:nvPr/>
        </p:nvSpPr>
        <p:spPr>
          <a:xfrm>
            <a:off x="9364428" y="3234432"/>
            <a:ext cx="2001787" cy="245666"/>
          </a:xfrm>
          <a:prstGeom prst="rect">
            <a:avLst/>
          </a:prstGeom>
          <a:noFill/>
          <a:ln/>
        </p:spPr>
        <p:txBody>
          <a:bodyPr wrap="none" lIns="0" tIns="0" rIns="0" bIns="0" rtlCol="0" anchor="t"/>
          <a:lstStyle/>
          <a:p>
            <a:pPr marL="0" indent="0" algn="l">
              <a:lnSpc>
                <a:spcPct val="108000"/>
              </a:lnSpc>
              <a:buNone/>
            </a:pPr>
            <a:r>
              <a:rPr lang="en-US" sz="1450" b="1" kern="0" spc="-30" dirty="0">
                <a:solidFill>
                  <a:srgbClr val="EBEDF0"/>
                </a:solidFill>
                <a:latin typeface="Abadi" panose="020B0604020104020204" pitchFamily="34" charset="0"/>
                <a:ea typeface="Geist Bold" pitchFamily="34" charset="-122"/>
                <a:cs typeface="Geist Bold" pitchFamily="34" charset="-120"/>
              </a:rPr>
              <a:t>SLAM</a:t>
            </a:r>
            <a:endParaRPr lang="en-US" sz="1450" dirty="0"/>
          </a:p>
        </p:txBody>
      </p:sp>
      <p:sp>
        <p:nvSpPr>
          <p:cNvPr id="21" name="Text 12"/>
          <p:cNvSpPr/>
          <p:nvPr/>
        </p:nvSpPr>
        <p:spPr>
          <a:xfrm>
            <a:off x="9364428" y="3601045"/>
            <a:ext cx="2001787" cy="2299791"/>
          </a:xfrm>
          <a:prstGeom prst="rect">
            <a:avLst/>
          </a:prstGeom>
          <a:noFill/>
          <a:ln/>
        </p:spPr>
        <p:txBody>
          <a:bodyPr wrap="square" lIns="0" tIns="0" rIns="0" bIns="0" rtlCol="0" anchor="t">
            <a:normAutofit lnSpcReduction="10000"/>
          </a:bodyPr>
          <a:lstStyle/>
          <a:p>
            <a:pPr marL="0" indent="0" algn="l">
              <a:lnSpc>
                <a:spcPct val="97000"/>
              </a:lnSpc>
              <a:buNone/>
            </a:pPr>
            <a:r>
              <a:rPr lang="en-US" sz="1200" dirty="0">
                <a:solidFill>
                  <a:srgbClr val="EBEDF0"/>
                </a:solidFill>
                <a:latin typeface="Abadi" panose="020B0604020104020204" pitchFamily="34" charset="0"/>
                <a:ea typeface="Geist" pitchFamily="34" charset="-122"/>
                <a:cs typeface="Geist" pitchFamily="34" charset="-120"/>
              </a:rPr>
              <a:t>Simultaneous Localization and Mapping enables autonomous exploration of unknown environments through concurrent position tracking and environmental mapping. Loop-closure detection corrects accumulated positional error and is essential for autonomous systems operating in unmapped or dynamic environments.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72319"/>
            <a:ext cx="10868745" cy="522089"/>
          </a:xfrm>
          <a:prstGeom prst="rect">
            <a:avLst/>
          </a:prstGeom>
          <a:noFill/>
          <a:ln/>
        </p:spPr>
        <p:txBody>
          <a:bodyPr wrap="none" lIns="0" tIns="0" rIns="0" bIns="0" rtlCol="0" anchor="t"/>
          <a:lstStyle/>
          <a:p>
            <a:pPr marL="0" indent="0" algn="l">
              <a:lnSpc>
                <a:spcPct val="108000"/>
              </a:lnSpc>
              <a:buNone/>
            </a:pPr>
            <a:r>
              <a:rPr lang="en-US" sz="3150" b="1" kern="0" spc="-63" dirty="0">
                <a:solidFill>
                  <a:srgbClr val="F2F5FA"/>
                </a:solidFill>
                <a:latin typeface="Abadi" panose="020B0604020104020204" pitchFamily="34" charset="0"/>
                <a:ea typeface="Geist Bold" pitchFamily="34" charset="-122"/>
                <a:cs typeface="Geist Bold" pitchFamily="34" charset="-120"/>
              </a:rPr>
              <a:t>Sensor Fusion</a:t>
            </a:r>
            <a:endParaRPr lang="en-US" sz="3150" dirty="0"/>
          </a:p>
        </p:txBody>
      </p:sp>
      <p:sp>
        <p:nvSpPr>
          <p:cNvPr id="3" name="Text 1"/>
          <p:cNvSpPr/>
          <p:nvPr/>
        </p:nvSpPr>
        <p:spPr>
          <a:xfrm>
            <a:off x="661475" y="1567458"/>
            <a:ext cx="10868745" cy="579239"/>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EBEDF0"/>
                </a:solidFill>
                <a:latin typeface="Abadi" panose="020B0604020104020204" pitchFamily="34" charset="0"/>
                <a:ea typeface="Geist" pitchFamily="34" charset="-122"/>
                <a:cs typeface="Geist" pitchFamily="34" charset="-120"/>
              </a:rPr>
              <a:t>Sensor fusion improves autonomous operation by integrating data from multiple sensors to compensate for the limitations of any single modality. By combining complementary measurements, robotic systems achieve more accurate, reliable, and robust perception and state estimation in complex environments.</a:t>
            </a:r>
            <a:endParaRPr lang="en-US" sz="12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53878"/>
            <a:ext cx="2550949" cy="3478113"/>
          </a:xfrm>
          <a:prstGeom prst="rect">
            <a:avLst/>
          </a:prstGeom>
        </p:spPr>
      </p:pic>
      <p:sp>
        <p:nvSpPr>
          <p:cNvPr id="5" name="Text 2"/>
          <p:cNvSpPr/>
          <p:nvPr/>
        </p:nvSpPr>
        <p:spPr>
          <a:xfrm>
            <a:off x="917354" y="2633563"/>
            <a:ext cx="2115390" cy="522089"/>
          </a:xfrm>
          <a:prstGeom prst="rect">
            <a:avLst/>
          </a:prstGeom>
          <a:noFill/>
          <a:ln/>
        </p:spPr>
        <p:txBody>
          <a:bodyPr wrap="square" lIns="0" tIns="0" rIns="0" bIns="0" rtlCol="0" anchor="t">
            <a:normAutofit/>
          </a:bodyPr>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Limitations of Individual Sensors</a:t>
            </a:r>
            <a:endParaRPr lang="en-US" sz="1550" dirty="0"/>
          </a:p>
        </p:txBody>
      </p:sp>
      <p:sp>
        <p:nvSpPr>
          <p:cNvPr id="6" name="Text 3"/>
          <p:cNvSpPr/>
          <p:nvPr/>
        </p:nvSpPr>
        <p:spPr>
          <a:xfrm>
            <a:off x="917354" y="3292177"/>
            <a:ext cx="2115390" cy="1928614"/>
          </a:xfrm>
          <a:prstGeom prst="rect">
            <a:avLst/>
          </a:prstGeom>
          <a:noFill/>
          <a:ln/>
        </p:spPr>
        <p:txBody>
          <a:bodyPr wrap="square" lIns="0" tIns="0" rIns="0" bIns="0" rtlCol="0" anchor="t">
            <a:normAutofit/>
          </a:bodyPr>
          <a:lstStyle/>
          <a:p>
            <a:pPr marL="254000" indent="-254000" algn="l">
              <a:lnSpc>
                <a:spcPct val="100000"/>
              </a:lnSpc>
              <a:buSzPct val="100000"/>
              <a:buChar char="•"/>
            </a:pPr>
            <a:r>
              <a:rPr lang="en-US" sz="1200" dirty="0">
                <a:solidFill>
                  <a:srgbClr val="EBEDF0"/>
                </a:solidFill>
                <a:latin typeface="Abadi" panose="020B0604020104020204" pitchFamily="34" charset="0"/>
                <a:ea typeface="Geist" pitchFamily="34" charset="-122"/>
                <a:cs typeface="Geist" pitchFamily="34" charset="-120"/>
              </a:rPr>
              <a:t>GPS is unreliable indoors</a:t>
            </a:r>
            <a:endParaRPr lang="en-US" sz="1200" dirty="0"/>
          </a:p>
          <a:p>
            <a:pPr marL="254000" indent="-254000" algn="l">
              <a:lnSpc>
                <a:spcPct val="100000"/>
              </a:lnSpc>
              <a:buSzPct val="100000"/>
              <a:buChar char="•"/>
            </a:pPr>
            <a:r>
              <a:rPr lang="en-US" sz="1200" dirty="0">
                <a:solidFill>
                  <a:srgbClr val="EBEDF0"/>
                </a:solidFill>
                <a:latin typeface="Abadi" panose="020B0604020104020204" pitchFamily="34" charset="0"/>
                <a:ea typeface="Geist" pitchFamily="34" charset="-122"/>
                <a:cs typeface="Geist" pitchFamily="34" charset="-120"/>
              </a:rPr>
              <a:t>LiDAR is computationally demanding</a:t>
            </a:r>
            <a:endParaRPr lang="en-US" sz="1200" dirty="0"/>
          </a:p>
          <a:p>
            <a:pPr marL="254000" indent="-254000" algn="l">
              <a:lnSpc>
                <a:spcPct val="100000"/>
              </a:lnSpc>
              <a:buSzPct val="100000"/>
              <a:buChar char="•"/>
            </a:pPr>
            <a:r>
              <a:rPr lang="en-US" sz="1200" dirty="0">
                <a:solidFill>
                  <a:srgbClr val="EBEDF0"/>
                </a:solidFill>
                <a:latin typeface="Abadi" panose="020B0604020104020204" pitchFamily="34" charset="0"/>
                <a:ea typeface="Geist" pitchFamily="34" charset="-122"/>
                <a:cs typeface="Geist" pitchFamily="34" charset="-120"/>
              </a:rPr>
              <a:t>Cameras perform poorly in low-light conditions</a:t>
            </a:r>
            <a:endParaRPr lang="en-US" sz="1200" dirty="0"/>
          </a:p>
          <a:p>
            <a:pPr marL="254000" indent="-254000" algn="l">
              <a:lnSpc>
                <a:spcPct val="100000"/>
              </a:lnSpc>
              <a:buSzPct val="100000"/>
              <a:buChar char="•"/>
            </a:pPr>
            <a:r>
              <a:rPr lang="en-US" sz="1200" dirty="0">
                <a:solidFill>
                  <a:srgbClr val="EBEDF0"/>
                </a:solidFill>
                <a:latin typeface="Abadi" panose="020B0604020104020204" pitchFamily="34" charset="0"/>
                <a:ea typeface="Geist" pitchFamily="34" charset="-122"/>
                <a:cs typeface="Geist" pitchFamily="34" charset="-120"/>
              </a:rPr>
              <a:t>Encoders accumulate drift over time</a:t>
            </a:r>
            <a:endParaRPr lang="en-US" sz="1200" dirty="0"/>
          </a:p>
          <a:p>
            <a:pPr marL="254000" indent="-254000" algn="l">
              <a:lnSpc>
                <a:spcPct val="100000"/>
              </a:lnSpc>
              <a:buSzPct val="100000"/>
              <a:buChar char="•"/>
            </a:pPr>
            <a:r>
              <a:rPr lang="en-US" sz="1200" dirty="0">
                <a:solidFill>
                  <a:srgbClr val="EBEDF0"/>
                </a:solidFill>
                <a:latin typeface="Abadi" panose="020B0604020104020204" pitchFamily="34" charset="0"/>
                <a:ea typeface="Geist" pitchFamily="34" charset="-122"/>
                <a:cs typeface="Geist" pitchFamily="34" charset="-120"/>
              </a:rPr>
              <a:t>IMUs are affected by integration drift</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8946" y="2453878"/>
            <a:ext cx="2550949" cy="3478113"/>
          </a:xfrm>
          <a:prstGeom prst="rect">
            <a:avLst/>
          </a:prstGeom>
        </p:spPr>
      </p:pic>
      <p:sp>
        <p:nvSpPr>
          <p:cNvPr id="8" name="Text 4"/>
          <p:cNvSpPr/>
          <p:nvPr/>
        </p:nvSpPr>
        <p:spPr>
          <a:xfrm>
            <a:off x="3604825" y="2633563"/>
            <a:ext cx="2115390" cy="522089"/>
          </a:xfrm>
          <a:prstGeom prst="rect">
            <a:avLst/>
          </a:prstGeom>
          <a:noFill/>
          <a:ln/>
        </p:spPr>
        <p:txBody>
          <a:bodyPr wrap="square" lIns="0" tIns="0" rIns="0" bIns="0" rtlCol="0" anchor="t">
            <a:normAutofit/>
          </a:bodyPr>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Why Sensor Fusion Is Effective</a:t>
            </a:r>
            <a:endParaRPr lang="en-US" sz="1550" dirty="0"/>
          </a:p>
        </p:txBody>
      </p:sp>
      <p:sp>
        <p:nvSpPr>
          <p:cNvPr id="9" name="Text 5"/>
          <p:cNvSpPr/>
          <p:nvPr/>
        </p:nvSpPr>
        <p:spPr>
          <a:xfrm>
            <a:off x="3604825" y="3292177"/>
            <a:ext cx="2115390" cy="2460129"/>
          </a:xfrm>
          <a:prstGeom prst="rect">
            <a:avLst/>
          </a:prstGeom>
          <a:noFill/>
          <a:ln/>
        </p:spPr>
        <p:txBody>
          <a:bodyPr wrap="square" lIns="0" tIns="0" rIns="0" bIns="0" rtlCol="0" anchor="t">
            <a:normAutofit/>
          </a:bodyPr>
          <a:lstStyle/>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Combines the complementary strengths of multiple sensors</a:t>
            </a:r>
            <a:endParaRPr lang="en-US" sz="1250" dirty="0"/>
          </a:p>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GPS and IMU together provide continuous tracking</a:t>
            </a:r>
            <a:endParaRPr lang="en-US" sz="1250" dirty="0"/>
          </a:p>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LiDAR and cameras support more robust perception</a:t>
            </a:r>
            <a:endParaRPr lang="en-US" sz="1250" dirty="0"/>
          </a:p>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Encoders and IMUs help correct odometry drift</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98149" y="2453878"/>
            <a:ext cx="2550949" cy="2658070"/>
          </a:xfrm>
          <a:prstGeom prst="rect">
            <a:avLst/>
          </a:prstGeom>
        </p:spPr>
      </p:pic>
      <p:sp>
        <p:nvSpPr>
          <p:cNvPr id="11" name="Text 6"/>
          <p:cNvSpPr/>
          <p:nvPr/>
        </p:nvSpPr>
        <p:spPr>
          <a:xfrm>
            <a:off x="6554028" y="2633563"/>
            <a:ext cx="2115390" cy="522089"/>
          </a:xfrm>
          <a:prstGeom prst="rect">
            <a:avLst/>
          </a:prstGeom>
          <a:noFill/>
          <a:ln/>
        </p:spPr>
        <p:txBody>
          <a:bodyPr wrap="square" lIns="0" tIns="0" rIns="0" bIns="0" rtlCol="0" anchor="t">
            <a:normAutofit/>
          </a:bodyPr>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Kalman Filter Algorithm</a:t>
            </a:r>
            <a:endParaRPr lang="en-US" sz="1550" dirty="0"/>
          </a:p>
        </p:txBody>
      </p:sp>
      <p:sp>
        <p:nvSpPr>
          <p:cNvPr id="12" name="Text 7"/>
          <p:cNvSpPr/>
          <p:nvPr/>
        </p:nvSpPr>
        <p:spPr>
          <a:xfrm>
            <a:off x="6554028" y="3292177"/>
            <a:ext cx="2115390" cy="1640086"/>
          </a:xfrm>
          <a:prstGeom prst="rect">
            <a:avLst/>
          </a:prstGeom>
          <a:noFill/>
          <a:ln/>
        </p:spPr>
        <p:txBody>
          <a:bodyPr wrap="square" lIns="0" tIns="0" rIns="0" bIns="0" rtlCol="0" anchor="t">
            <a:normAutofit/>
          </a:bodyPr>
          <a:lstStyle/>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Weights each sensor according to its estimated reliability</a:t>
            </a:r>
            <a:endParaRPr lang="en-US" sz="1250" dirty="0"/>
          </a:p>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Adapts confidence levels dynamically over time</a:t>
            </a:r>
            <a:endParaRPr lang="en-US" sz="1250" dirty="0"/>
          </a:p>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Produces estimates with lower error than any single sensor alone</a:t>
            </a:r>
            <a:endParaRPr lang="en-US" sz="12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85621" y="2453878"/>
            <a:ext cx="2550949" cy="2658070"/>
          </a:xfrm>
          <a:prstGeom prst="rect">
            <a:avLst/>
          </a:prstGeom>
        </p:spPr>
      </p:pic>
      <p:sp>
        <p:nvSpPr>
          <p:cNvPr id="14" name="Text 8"/>
          <p:cNvSpPr/>
          <p:nvPr/>
        </p:nvSpPr>
        <p:spPr>
          <a:xfrm>
            <a:off x="9241499" y="2633563"/>
            <a:ext cx="2115390" cy="261045"/>
          </a:xfrm>
          <a:prstGeom prst="rect">
            <a:avLst/>
          </a:prstGeom>
          <a:noFill/>
          <a:ln/>
        </p:spPr>
        <p:txBody>
          <a:bodyPr wrap="none" lIns="0" tIns="0" rIns="0" bIns="0" rtlCol="0" anchor="t"/>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Key Benefits</a:t>
            </a:r>
            <a:endParaRPr lang="en-US" sz="1550" dirty="0"/>
          </a:p>
        </p:txBody>
      </p:sp>
      <p:sp>
        <p:nvSpPr>
          <p:cNvPr id="15" name="Text 9"/>
          <p:cNvSpPr/>
          <p:nvPr/>
        </p:nvSpPr>
        <p:spPr>
          <a:xfrm>
            <a:off x="9241499" y="3031133"/>
            <a:ext cx="2115390" cy="1640086"/>
          </a:xfrm>
          <a:prstGeom prst="rect">
            <a:avLst/>
          </a:prstGeom>
          <a:noFill/>
          <a:ln/>
        </p:spPr>
        <p:txBody>
          <a:bodyPr wrap="square" lIns="0" tIns="0" rIns="0" bIns="0" rtlCol="0" anchor="t">
            <a:normAutofit/>
          </a:bodyPr>
          <a:lstStyle/>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Improved accuracy and reliability</a:t>
            </a:r>
            <a:endParaRPr lang="en-US" sz="1250" dirty="0"/>
          </a:p>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Robust performance across diverse environments</a:t>
            </a:r>
            <a:endParaRPr lang="en-US" sz="1250" dirty="0"/>
          </a:p>
          <a:p>
            <a:pPr marL="254000" indent="-254000" algn="l">
              <a:lnSpc>
                <a:spcPct val="100000"/>
              </a:lnSpc>
              <a:buSzPct val="100000"/>
              <a:buChar char="•"/>
            </a:pPr>
            <a:r>
              <a:rPr lang="en-US" sz="1250" dirty="0">
                <a:solidFill>
                  <a:srgbClr val="EBEDF0"/>
                </a:solidFill>
                <a:latin typeface="Abadi" panose="020B0604020104020204" pitchFamily="34" charset="0"/>
                <a:ea typeface="Geist" pitchFamily="34" charset="-122"/>
                <a:cs typeface="Geist" pitchFamily="34" charset="-120"/>
              </a:rPr>
              <a:t>Supports autonomous operation under challenging conditions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743347"/>
            <a:ext cx="10868745" cy="522089"/>
          </a:xfrm>
          <a:prstGeom prst="rect">
            <a:avLst/>
          </a:prstGeom>
          <a:noFill/>
          <a:ln/>
        </p:spPr>
        <p:txBody>
          <a:bodyPr wrap="none" lIns="0" tIns="0" rIns="0" bIns="0" rtlCol="0" anchor="t"/>
          <a:lstStyle/>
          <a:p>
            <a:pPr marL="0" indent="0" algn="l">
              <a:lnSpc>
                <a:spcPct val="108000"/>
              </a:lnSpc>
              <a:buNone/>
            </a:pPr>
            <a:r>
              <a:rPr lang="en-US" sz="3150" b="1" kern="0" spc="-63" dirty="0">
                <a:solidFill>
                  <a:srgbClr val="F2F5FA"/>
                </a:solidFill>
                <a:latin typeface="Abadi" panose="020B0604020104020204" pitchFamily="34" charset="0"/>
                <a:ea typeface="Geist Bold" pitchFamily="34" charset="-122"/>
                <a:cs typeface="Geist Bold" pitchFamily="34" charset="-120"/>
              </a:rPr>
              <a:t>Real-World Applications</a:t>
            </a:r>
            <a:endParaRPr lang="en-US" sz="3150" dirty="0"/>
          </a:p>
        </p:txBody>
      </p:sp>
      <p:sp>
        <p:nvSpPr>
          <p:cNvPr id="3" name="Text 1"/>
          <p:cNvSpPr/>
          <p:nvPr/>
        </p:nvSpPr>
        <p:spPr>
          <a:xfrm>
            <a:off x="661475" y="1538486"/>
            <a:ext cx="10868745" cy="386159"/>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EBEDF0"/>
                </a:solidFill>
                <a:latin typeface="Abadi" panose="020B0604020104020204" pitchFamily="34" charset="0"/>
                <a:ea typeface="Geist" pitchFamily="34" charset="-122"/>
                <a:cs typeface="Geist" pitchFamily="34" charset="-120"/>
              </a:rPr>
              <a:t>Sensor fusion underpins a wide range of autonomous systems by enabling reliable perception, localization, and decision-making in real-world environments.</a:t>
            </a:r>
            <a:endParaRPr lang="en-US" sz="1250" dirty="0"/>
          </a:p>
        </p:txBody>
      </p:sp>
      <p:pic>
        <p:nvPicPr>
          <p:cNvPr id="4" name="Image 0" descr="preencoded.png"/>
          <p:cNvPicPr>
            <a:picLocks noChangeAspect="1"/>
          </p:cNvPicPr>
          <p:nvPr/>
        </p:nvPicPr>
        <p:blipFill>
          <a:blip r:embed="rId3"/>
          <a:stretch>
            <a:fillRect/>
          </a:stretch>
        </p:blipFill>
        <p:spPr>
          <a:xfrm>
            <a:off x="661475" y="2078236"/>
            <a:ext cx="1276417" cy="788888"/>
          </a:xfrm>
          <a:prstGeom prst="rect">
            <a:avLst/>
          </a:prstGeom>
        </p:spPr>
      </p:pic>
      <p:sp>
        <p:nvSpPr>
          <p:cNvPr id="5" name="Text 2"/>
          <p:cNvSpPr/>
          <p:nvPr/>
        </p:nvSpPr>
        <p:spPr>
          <a:xfrm>
            <a:off x="661475" y="3037780"/>
            <a:ext cx="2589148" cy="261045"/>
          </a:xfrm>
          <a:prstGeom prst="rect">
            <a:avLst/>
          </a:prstGeom>
          <a:noFill/>
          <a:ln/>
        </p:spPr>
        <p:txBody>
          <a:bodyPr wrap="none" lIns="0" tIns="0" rIns="0" bIns="0" rtlCol="0" anchor="t"/>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Autonomous Vehicles</a:t>
            </a:r>
            <a:endParaRPr lang="en-US" sz="1550" dirty="0"/>
          </a:p>
        </p:txBody>
      </p:sp>
      <p:sp>
        <p:nvSpPr>
          <p:cNvPr id="6" name="Text 3"/>
          <p:cNvSpPr/>
          <p:nvPr/>
        </p:nvSpPr>
        <p:spPr>
          <a:xfrm>
            <a:off x="661475" y="3380680"/>
            <a:ext cx="2589148" cy="579239"/>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EBEDF0"/>
                </a:solidFill>
                <a:latin typeface="Abadi" panose="020B0604020104020204" pitchFamily="34" charset="0"/>
                <a:ea typeface="Geist" pitchFamily="34" charset="-122"/>
                <a:cs typeface="Geist" pitchFamily="34" charset="-120"/>
              </a:rPr>
              <a:t>Integrated perception and control for safe navigation in complex traffic conditions.</a:t>
            </a:r>
            <a:endParaRPr lang="en-US" sz="1250" dirty="0"/>
          </a:p>
        </p:txBody>
      </p:sp>
      <p:pic>
        <p:nvPicPr>
          <p:cNvPr id="7" name="Image 1" descr="preencoded.png"/>
          <p:cNvPicPr>
            <a:picLocks noChangeAspect="1"/>
          </p:cNvPicPr>
          <p:nvPr/>
        </p:nvPicPr>
        <p:blipFill>
          <a:blip r:embed="rId4"/>
          <a:stretch>
            <a:fillRect/>
          </a:stretch>
        </p:blipFill>
        <p:spPr>
          <a:xfrm>
            <a:off x="3421275" y="2078236"/>
            <a:ext cx="1276417" cy="788888"/>
          </a:xfrm>
          <a:prstGeom prst="rect">
            <a:avLst/>
          </a:prstGeom>
        </p:spPr>
      </p:pic>
      <p:sp>
        <p:nvSpPr>
          <p:cNvPr id="8" name="Text 4"/>
          <p:cNvSpPr/>
          <p:nvPr/>
        </p:nvSpPr>
        <p:spPr>
          <a:xfrm>
            <a:off x="3421275" y="3037780"/>
            <a:ext cx="2589247" cy="261045"/>
          </a:xfrm>
          <a:prstGeom prst="rect">
            <a:avLst/>
          </a:prstGeom>
          <a:noFill/>
          <a:ln/>
        </p:spPr>
        <p:txBody>
          <a:bodyPr wrap="none" lIns="0" tIns="0" rIns="0" bIns="0" rtlCol="0" anchor="t"/>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Unmanned Aerial Systems</a:t>
            </a:r>
            <a:endParaRPr lang="en-US" sz="1550" dirty="0"/>
          </a:p>
        </p:txBody>
      </p:sp>
      <p:sp>
        <p:nvSpPr>
          <p:cNvPr id="9" name="Text 5"/>
          <p:cNvSpPr/>
          <p:nvPr/>
        </p:nvSpPr>
        <p:spPr>
          <a:xfrm>
            <a:off x="3421275" y="3380680"/>
            <a:ext cx="2589247" cy="579239"/>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EBEDF0"/>
                </a:solidFill>
                <a:latin typeface="Abadi" panose="020B0604020104020204" pitchFamily="34" charset="0"/>
                <a:ea typeface="Geist" pitchFamily="34" charset="-122"/>
                <a:cs typeface="Geist" pitchFamily="34" charset="-120"/>
              </a:rPr>
              <a:t>Autonomous aerial navigation with obstacle avoidance and mission execution capabilities.</a:t>
            </a:r>
            <a:endParaRPr lang="en-US" sz="1250" dirty="0"/>
          </a:p>
        </p:txBody>
      </p:sp>
      <p:pic>
        <p:nvPicPr>
          <p:cNvPr id="10" name="Image 2" descr="preencoded.png"/>
          <p:cNvPicPr>
            <a:picLocks noChangeAspect="1"/>
          </p:cNvPicPr>
          <p:nvPr/>
        </p:nvPicPr>
        <p:blipFill>
          <a:blip r:embed="rId5"/>
          <a:stretch>
            <a:fillRect/>
          </a:stretch>
        </p:blipFill>
        <p:spPr>
          <a:xfrm>
            <a:off x="6181173" y="2078236"/>
            <a:ext cx="1276417" cy="788888"/>
          </a:xfrm>
          <a:prstGeom prst="rect">
            <a:avLst/>
          </a:prstGeom>
        </p:spPr>
      </p:pic>
      <p:sp>
        <p:nvSpPr>
          <p:cNvPr id="11" name="Text 6"/>
          <p:cNvSpPr/>
          <p:nvPr/>
        </p:nvSpPr>
        <p:spPr>
          <a:xfrm>
            <a:off x="6181173" y="3037780"/>
            <a:ext cx="2589148" cy="261045"/>
          </a:xfrm>
          <a:prstGeom prst="rect">
            <a:avLst/>
          </a:prstGeom>
          <a:noFill/>
          <a:ln/>
        </p:spPr>
        <p:txBody>
          <a:bodyPr wrap="none" lIns="0" tIns="0" rIns="0" bIns="0" rtlCol="0" anchor="t"/>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Warehouse Robotics</a:t>
            </a:r>
            <a:endParaRPr lang="en-US" sz="1550" dirty="0"/>
          </a:p>
        </p:txBody>
      </p:sp>
      <p:sp>
        <p:nvSpPr>
          <p:cNvPr id="12" name="Text 7"/>
          <p:cNvSpPr/>
          <p:nvPr/>
        </p:nvSpPr>
        <p:spPr>
          <a:xfrm>
            <a:off x="6181173" y="3380680"/>
            <a:ext cx="2589148" cy="579239"/>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EBEDF0"/>
                </a:solidFill>
                <a:latin typeface="Abadi" panose="020B0604020104020204" pitchFamily="34" charset="0"/>
                <a:ea typeface="Geist" pitchFamily="34" charset="-122"/>
                <a:cs typeface="Geist" pitchFamily="34" charset="-120"/>
              </a:rPr>
              <a:t>Automated material handling and logistics in structured industrial environments.</a:t>
            </a:r>
            <a:endParaRPr lang="en-US" sz="1250" dirty="0"/>
          </a:p>
        </p:txBody>
      </p:sp>
      <p:pic>
        <p:nvPicPr>
          <p:cNvPr id="13" name="Image 3" descr="preencoded.png"/>
          <p:cNvPicPr>
            <a:picLocks noChangeAspect="1"/>
          </p:cNvPicPr>
          <p:nvPr/>
        </p:nvPicPr>
        <p:blipFill>
          <a:blip r:embed="rId6"/>
          <a:stretch>
            <a:fillRect/>
          </a:stretch>
        </p:blipFill>
        <p:spPr>
          <a:xfrm>
            <a:off x="8940973" y="2078236"/>
            <a:ext cx="1276417" cy="788888"/>
          </a:xfrm>
          <a:prstGeom prst="rect">
            <a:avLst/>
          </a:prstGeom>
        </p:spPr>
      </p:pic>
      <p:sp>
        <p:nvSpPr>
          <p:cNvPr id="14" name="Text 8"/>
          <p:cNvSpPr/>
          <p:nvPr/>
        </p:nvSpPr>
        <p:spPr>
          <a:xfrm>
            <a:off x="8940973" y="3037780"/>
            <a:ext cx="2589247" cy="261045"/>
          </a:xfrm>
          <a:prstGeom prst="rect">
            <a:avLst/>
          </a:prstGeom>
          <a:noFill/>
          <a:ln/>
        </p:spPr>
        <p:txBody>
          <a:bodyPr wrap="none" lIns="0" tIns="0" rIns="0" bIns="0" rtlCol="0" anchor="t"/>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Agricultural Robotics</a:t>
            </a:r>
            <a:endParaRPr lang="en-US" sz="1550" dirty="0"/>
          </a:p>
        </p:txBody>
      </p:sp>
      <p:sp>
        <p:nvSpPr>
          <p:cNvPr id="15" name="Text 9"/>
          <p:cNvSpPr/>
          <p:nvPr/>
        </p:nvSpPr>
        <p:spPr>
          <a:xfrm>
            <a:off x="8940973" y="3380680"/>
            <a:ext cx="2589247" cy="579239"/>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EBEDF0"/>
                </a:solidFill>
                <a:latin typeface="Abadi" panose="020B0604020104020204" pitchFamily="34" charset="0"/>
                <a:ea typeface="Geist" pitchFamily="34" charset="-122"/>
                <a:cs typeface="Geist" pitchFamily="34" charset="-120"/>
              </a:rPr>
              <a:t>Autonomous field operations for planting, monitoring, and harvesting.</a:t>
            </a:r>
            <a:endParaRPr lang="en-US" sz="1250" dirty="0"/>
          </a:p>
        </p:txBody>
      </p:sp>
      <p:pic>
        <p:nvPicPr>
          <p:cNvPr id="16" name="Image 4" descr="preencoded.png"/>
          <p:cNvPicPr>
            <a:picLocks noChangeAspect="1"/>
          </p:cNvPicPr>
          <p:nvPr/>
        </p:nvPicPr>
        <p:blipFill>
          <a:blip r:embed="rId7"/>
          <a:stretch>
            <a:fillRect/>
          </a:stretch>
        </p:blipFill>
        <p:spPr>
          <a:xfrm>
            <a:off x="661475" y="4232970"/>
            <a:ext cx="1276417" cy="788888"/>
          </a:xfrm>
          <a:prstGeom prst="rect">
            <a:avLst/>
          </a:prstGeom>
        </p:spPr>
      </p:pic>
      <p:sp>
        <p:nvSpPr>
          <p:cNvPr id="17" name="Text 10"/>
          <p:cNvSpPr/>
          <p:nvPr/>
        </p:nvSpPr>
        <p:spPr>
          <a:xfrm>
            <a:off x="661475" y="5192514"/>
            <a:ext cx="2589148" cy="261045"/>
          </a:xfrm>
          <a:prstGeom prst="rect">
            <a:avLst/>
          </a:prstGeom>
          <a:noFill/>
          <a:ln/>
        </p:spPr>
        <p:txBody>
          <a:bodyPr wrap="none" lIns="0" tIns="0" rIns="0" bIns="0" rtlCol="0" anchor="t"/>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Search and Rescue</a:t>
            </a:r>
            <a:endParaRPr lang="en-US" sz="1550" dirty="0"/>
          </a:p>
        </p:txBody>
      </p:sp>
      <p:sp>
        <p:nvSpPr>
          <p:cNvPr id="18" name="Text 11"/>
          <p:cNvSpPr/>
          <p:nvPr/>
        </p:nvSpPr>
        <p:spPr>
          <a:xfrm>
            <a:off x="661475" y="5535414"/>
            <a:ext cx="2589148" cy="579239"/>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EBEDF0"/>
                </a:solidFill>
                <a:latin typeface="Abadi" panose="020B0604020104020204" pitchFamily="34" charset="0"/>
                <a:ea typeface="Geist" pitchFamily="34" charset="-122"/>
                <a:cs typeface="Geist" pitchFamily="34" charset="-120"/>
              </a:rPr>
              <a:t>Navigation in hazardous and unstructured environments for emergency response.</a:t>
            </a:r>
            <a:endParaRPr lang="en-US" sz="1250" dirty="0"/>
          </a:p>
        </p:txBody>
      </p:sp>
      <p:pic>
        <p:nvPicPr>
          <p:cNvPr id="19" name="Image 5" descr="preencoded.png"/>
          <p:cNvPicPr>
            <a:picLocks noChangeAspect="1"/>
          </p:cNvPicPr>
          <p:nvPr/>
        </p:nvPicPr>
        <p:blipFill>
          <a:blip r:embed="rId8"/>
          <a:stretch>
            <a:fillRect/>
          </a:stretch>
        </p:blipFill>
        <p:spPr>
          <a:xfrm>
            <a:off x="3421275" y="4232970"/>
            <a:ext cx="1276417" cy="788888"/>
          </a:xfrm>
          <a:prstGeom prst="rect">
            <a:avLst/>
          </a:prstGeom>
        </p:spPr>
      </p:pic>
      <p:sp>
        <p:nvSpPr>
          <p:cNvPr id="20" name="Text 12"/>
          <p:cNvSpPr/>
          <p:nvPr/>
        </p:nvSpPr>
        <p:spPr>
          <a:xfrm>
            <a:off x="3421275" y="5192514"/>
            <a:ext cx="2589247" cy="261045"/>
          </a:xfrm>
          <a:prstGeom prst="rect">
            <a:avLst/>
          </a:prstGeom>
          <a:noFill/>
          <a:ln/>
        </p:spPr>
        <p:txBody>
          <a:bodyPr wrap="none" lIns="0" tIns="0" rIns="0" bIns="0" rtlCol="0" anchor="t"/>
          <a:lstStyle/>
          <a:p>
            <a:pPr marL="0" indent="0" algn="l">
              <a:lnSpc>
                <a:spcPct val="108000"/>
              </a:lnSpc>
              <a:buNone/>
            </a:pPr>
            <a:r>
              <a:rPr lang="en-US" sz="1550" b="1" kern="0" spc="-32" dirty="0">
                <a:solidFill>
                  <a:srgbClr val="EBEDF0"/>
                </a:solidFill>
                <a:latin typeface="Abadi" panose="020B0604020104020204" pitchFamily="34" charset="0"/>
                <a:ea typeface="Geist Bold" pitchFamily="34" charset="-122"/>
                <a:cs typeface="Geist Bold" pitchFamily="34" charset="-120"/>
              </a:rPr>
              <a:t>Delivery Robots</a:t>
            </a:r>
            <a:endParaRPr lang="en-US" sz="1550" dirty="0"/>
          </a:p>
        </p:txBody>
      </p:sp>
      <p:sp>
        <p:nvSpPr>
          <p:cNvPr id="21" name="Text 13"/>
          <p:cNvSpPr/>
          <p:nvPr/>
        </p:nvSpPr>
        <p:spPr>
          <a:xfrm>
            <a:off x="3421275" y="5535414"/>
            <a:ext cx="2589247" cy="386159"/>
          </a:xfrm>
          <a:prstGeom prst="rect">
            <a:avLst/>
          </a:prstGeom>
          <a:noFill/>
          <a:ln/>
        </p:spPr>
        <p:txBody>
          <a:bodyPr wrap="square" lIns="0" tIns="0" rIns="0" bIns="0" rtlCol="0" anchor="t">
            <a:normAutofit/>
          </a:bodyPr>
          <a:lstStyle/>
          <a:p>
            <a:pPr marL="0" indent="0" algn="l">
              <a:lnSpc>
                <a:spcPct val="100000"/>
              </a:lnSpc>
              <a:buNone/>
            </a:pPr>
            <a:r>
              <a:rPr lang="en-US" sz="1250" dirty="0">
                <a:solidFill>
                  <a:srgbClr val="EBEDF0"/>
                </a:solidFill>
                <a:latin typeface="Abadi" panose="020B0604020104020204" pitchFamily="34" charset="0"/>
                <a:ea typeface="Geist" pitchFamily="34" charset="-122"/>
                <a:cs typeface="Geist" pitchFamily="34" charset="-120"/>
              </a:rPr>
              <a:t>Last-mile autonomous delivery with urban navigation capabilities.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650677"/>
            <a:ext cx="10868745" cy="583605"/>
          </a:xfrm>
          <a:prstGeom prst="rect">
            <a:avLst/>
          </a:prstGeom>
          <a:noFill/>
          <a:ln/>
        </p:spPr>
        <p:txBody>
          <a:bodyPr wrap="none" lIns="0" tIns="0" rIns="0" bIns="0" rtlCol="0" anchor="t"/>
          <a:lstStyle/>
          <a:p>
            <a:pPr marL="0" indent="0" algn="l">
              <a:lnSpc>
                <a:spcPct val="108000"/>
              </a:lnSpc>
              <a:buNone/>
            </a:pPr>
            <a:r>
              <a:rPr lang="en-US" sz="3500" b="1" kern="0" spc="-71" dirty="0">
                <a:solidFill>
                  <a:srgbClr val="F2F5FA"/>
                </a:solidFill>
                <a:latin typeface="Abadi" panose="020B0604020104020204" pitchFamily="34" charset="0"/>
                <a:ea typeface="Geist Bold" pitchFamily="34" charset="-122"/>
                <a:cs typeface="Geist Bold" pitchFamily="34" charset="-120"/>
              </a:rPr>
              <a:t>Advantages and Disadvantages</a:t>
            </a:r>
            <a:endParaRPr lang="en-US" sz="3500" dirty="0"/>
          </a:p>
        </p:txBody>
      </p:sp>
      <p:sp>
        <p:nvSpPr>
          <p:cNvPr id="3" name="Shape 1"/>
          <p:cNvSpPr/>
          <p:nvPr/>
        </p:nvSpPr>
        <p:spPr>
          <a:xfrm>
            <a:off x="532097" y="1490166"/>
            <a:ext cx="5474059" cy="4717157"/>
          </a:xfrm>
          <a:prstGeom prst="roundRect">
            <a:avLst>
              <a:gd name="adj" fmla="val 2741"/>
            </a:avLst>
          </a:prstGeom>
          <a:solidFill>
            <a:srgbClr val="1F2A5D">
              <a:alpha val="95000"/>
            </a:srgbClr>
          </a:solidFill>
          <a:ln/>
        </p:spPr>
      </p:sp>
      <p:sp>
        <p:nvSpPr>
          <p:cNvPr id="4" name="Shape 2"/>
          <p:cNvSpPr/>
          <p:nvPr/>
        </p:nvSpPr>
        <p:spPr>
          <a:xfrm>
            <a:off x="711579" y="1682055"/>
            <a:ext cx="1115092" cy="272752"/>
          </a:xfrm>
          <a:prstGeom prst="roundRect">
            <a:avLst>
              <a:gd name="adj" fmla="val 22121"/>
            </a:avLst>
          </a:prstGeom>
          <a:solidFill>
            <a:srgbClr val="00194D"/>
          </a:solidFill>
          <a:ln/>
        </p:spPr>
      </p:sp>
      <p:sp>
        <p:nvSpPr>
          <p:cNvPr id="5" name="Text 3"/>
          <p:cNvSpPr/>
          <p:nvPr/>
        </p:nvSpPr>
        <p:spPr>
          <a:xfrm>
            <a:off x="819229" y="1735832"/>
            <a:ext cx="1509377" cy="165199"/>
          </a:xfrm>
          <a:prstGeom prst="rect">
            <a:avLst/>
          </a:prstGeom>
          <a:noFill/>
          <a:ln/>
        </p:spPr>
        <p:txBody>
          <a:bodyPr wrap="none" lIns="0" tIns="0" rIns="0" bIns="0" rtlCol="0" anchor="t"/>
          <a:lstStyle/>
          <a:p>
            <a:pPr marL="0" indent="0" algn="l">
              <a:lnSpc>
                <a:spcPct val="96000"/>
              </a:lnSpc>
              <a:buNone/>
            </a:pPr>
            <a:r>
              <a:rPr lang="en-US" sz="1100" dirty="0">
                <a:solidFill>
                  <a:srgbClr val="EBEDF0"/>
                </a:solidFill>
                <a:latin typeface="Abadi" panose="020B0604020104020204" pitchFamily="34" charset="0"/>
                <a:ea typeface="Geist" pitchFamily="34" charset="-122"/>
                <a:cs typeface="Geist" pitchFamily="34" charset="-120"/>
              </a:rPr>
              <a:t>ADVANTAGES</a:t>
            </a:r>
            <a:endParaRPr lang="en-US" sz="11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47" y="2128639"/>
            <a:ext cx="269273" cy="269280"/>
          </a:xfrm>
          <a:prstGeom prst="rect">
            <a:avLst/>
          </a:prstGeom>
        </p:spPr>
      </p:pic>
      <p:sp>
        <p:nvSpPr>
          <p:cNvPr id="7" name="Text 4"/>
          <p:cNvSpPr/>
          <p:nvPr/>
        </p:nvSpPr>
        <p:spPr>
          <a:xfrm>
            <a:off x="1295070" y="2146697"/>
            <a:ext cx="1867449" cy="1138039"/>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Accuracy</a:t>
            </a:r>
            <a:r>
              <a:rPr lang="en-US" sz="1400" dirty="0">
                <a:solidFill>
                  <a:srgbClr val="EBEDF0"/>
                </a:solidFill>
                <a:latin typeface="Abadi" panose="020B0604020104020204" pitchFamily="34" charset="0"/>
                <a:ea typeface="Geist" pitchFamily="34" charset="-122"/>
                <a:cs typeface="Geist" pitchFamily="34" charset="-120"/>
              </a:rPr>
              <a:t> — consistent and repeatable navigation performance across diverse environments</a:t>
            </a:r>
            <a:endParaRPr lang="en-US" sz="14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3102" y="2128639"/>
            <a:ext cx="269273" cy="269280"/>
          </a:xfrm>
          <a:prstGeom prst="rect">
            <a:avLst/>
          </a:prstGeom>
        </p:spPr>
      </p:pic>
      <p:sp>
        <p:nvSpPr>
          <p:cNvPr id="9" name="Text 5"/>
          <p:cNvSpPr/>
          <p:nvPr/>
        </p:nvSpPr>
        <p:spPr>
          <a:xfrm>
            <a:off x="3959225" y="2146697"/>
            <a:ext cx="1867449" cy="1138039"/>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Real-Time Detection</a:t>
            </a:r>
            <a:r>
              <a:rPr lang="en-US" sz="1400" dirty="0">
                <a:solidFill>
                  <a:srgbClr val="EBEDF0"/>
                </a:solidFill>
                <a:latin typeface="Abadi" panose="020B0604020104020204" pitchFamily="34" charset="0"/>
                <a:ea typeface="Geist" pitchFamily="34" charset="-122"/>
                <a:cs typeface="Geist" pitchFamily="34" charset="-120"/>
              </a:rPr>
              <a:t> — instantaneous obstacle identification and response capability</a:t>
            </a:r>
            <a:endParaRPr lang="en-US" sz="14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47" y="3607792"/>
            <a:ext cx="269273" cy="269280"/>
          </a:xfrm>
          <a:prstGeom prst="rect">
            <a:avLst/>
          </a:prstGeom>
        </p:spPr>
      </p:pic>
      <p:sp>
        <p:nvSpPr>
          <p:cNvPr id="11" name="Text 6"/>
          <p:cNvSpPr/>
          <p:nvPr/>
        </p:nvSpPr>
        <p:spPr>
          <a:xfrm>
            <a:off x="1295070" y="3625850"/>
            <a:ext cx="1867449" cy="1138039"/>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Autonomous Operation</a:t>
            </a:r>
            <a:r>
              <a:rPr lang="en-US" sz="1400" dirty="0">
                <a:solidFill>
                  <a:srgbClr val="EBEDF0"/>
                </a:solidFill>
                <a:latin typeface="Abadi" panose="020B0604020104020204" pitchFamily="34" charset="0"/>
                <a:ea typeface="Geist" pitchFamily="34" charset="-122"/>
                <a:cs typeface="Geist" pitchFamily="34" charset="-120"/>
              </a:rPr>
              <a:t> — independent operation without human intervention or control</a:t>
            </a:r>
            <a:endParaRPr lang="en-US" sz="14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3102" y="3607792"/>
            <a:ext cx="269273" cy="269280"/>
          </a:xfrm>
          <a:prstGeom prst="rect">
            <a:avLst/>
          </a:prstGeom>
        </p:spPr>
      </p:pic>
      <p:sp>
        <p:nvSpPr>
          <p:cNvPr id="13" name="Text 7"/>
          <p:cNvSpPr/>
          <p:nvPr/>
        </p:nvSpPr>
        <p:spPr>
          <a:xfrm>
            <a:off x="3959225" y="3625850"/>
            <a:ext cx="1867449" cy="1138039"/>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Improved Safety</a:t>
            </a:r>
            <a:r>
              <a:rPr lang="en-US" sz="1400" dirty="0">
                <a:solidFill>
                  <a:srgbClr val="EBEDF0"/>
                </a:solidFill>
                <a:latin typeface="Abadi" panose="020B0604020104020204" pitchFamily="34" charset="0"/>
                <a:ea typeface="Geist" pitchFamily="34" charset="-122"/>
                <a:cs typeface="Geist" pitchFamily="34" charset="-120"/>
              </a:rPr>
              <a:t> — deterministic decision-making free from human fatigue and error</a:t>
            </a:r>
            <a:endParaRPr lang="en-US" sz="14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8947" y="5086945"/>
            <a:ext cx="269273" cy="269280"/>
          </a:xfrm>
          <a:prstGeom prst="rect">
            <a:avLst/>
          </a:prstGeom>
        </p:spPr>
      </p:pic>
      <p:sp>
        <p:nvSpPr>
          <p:cNvPr id="15" name="Text 8"/>
          <p:cNvSpPr/>
          <p:nvPr/>
        </p:nvSpPr>
        <p:spPr>
          <a:xfrm>
            <a:off x="1295070" y="5105003"/>
            <a:ext cx="4531604" cy="455216"/>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Reduced Human Effort</a:t>
            </a:r>
            <a:r>
              <a:rPr lang="en-US" sz="1400" dirty="0">
                <a:solidFill>
                  <a:srgbClr val="EBEDF0"/>
                </a:solidFill>
                <a:latin typeface="Abadi" panose="020B0604020104020204" pitchFamily="34" charset="0"/>
                <a:ea typeface="Geist" pitchFamily="34" charset="-122"/>
                <a:cs typeface="Geist" pitchFamily="34" charset="-120"/>
              </a:rPr>
              <a:t> — enables human operators to focus on higher-level strategic tasks</a:t>
            </a:r>
            <a:endParaRPr lang="en-US" sz="1400" dirty="0"/>
          </a:p>
        </p:txBody>
      </p:sp>
      <p:sp>
        <p:nvSpPr>
          <p:cNvPr id="16" name="Shape 9"/>
          <p:cNvSpPr/>
          <p:nvPr/>
        </p:nvSpPr>
        <p:spPr>
          <a:xfrm>
            <a:off x="6321267" y="1682055"/>
            <a:ext cx="1340709" cy="272752"/>
          </a:xfrm>
          <a:prstGeom prst="roundRect">
            <a:avLst>
              <a:gd name="adj" fmla="val 22121"/>
            </a:avLst>
          </a:prstGeom>
          <a:noFill/>
          <a:ln w="12700">
            <a:solidFill>
              <a:srgbClr val="6296FF"/>
            </a:solidFill>
            <a:prstDash val="solid"/>
          </a:ln>
        </p:spPr>
      </p:sp>
      <p:sp>
        <p:nvSpPr>
          <p:cNvPr id="17" name="Text 10"/>
          <p:cNvSpPr/>
          <p:nvPr/>
        </p:nvSpPr>
        <p:spPr>
          <a:xfrm>
            <a:off x="6428917" y="1735832"/>
            <a:ext cx="1734995" cy="165199"/>
          </a:xfrm>
          <a:prstGeom prst="rect">
            <a:avLst/>
          </a:prstGeom>
          <a:noFill/>
          <a:ln/>
        </p:spPr>
        <p:txBody>
          <a:bodyPr wrap="none" lIns="0" tIns="0" rIns="0" bIns="0" rtlCol="0" anchor="t"/>
          <a:lstStyle/>
          <a:p>
            <a:pPr marL="0" indent="0" algn="l">
              <a:lnSpc>
                <a:spcPct val="96000"/>
              </a:lnSpc>
              <a:buNone/>
            </a:pPr>
            <a:r>
              <a:rPr lang="en-US" sz="1100" dirty="0">
                <a:solidFill>
                  <a:srgbClr val="6296FF"/>
                </a:solidFill>
                <a:latin typeface="Abadi" panose="020B0604020104020204" pitchFamily="34" charset="0"/>
                <a:ea typeface="Geist" pitchFamily="34" charset="-122"/>
                <a:cs typeface="Geist" pitchFamily="34" charset="-120"/>
              </a:rPr>
              <a:t>DISADVANTAGES</a:t>
            </a:r>
            <a:endParaRPr lang="en-US" sz="110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8635" y="2128639"/>
            <a:ext cx="269273" cy="269280"/>
          </a:xfrm>
          <a:prstGeom prst="rect">
            <a:avLst/>
          </a:prstGeom>
        </p:spPr>
      </p:pic>
      <p:sp>
        <p:nvSpPr>
          <p:cNvPr id="19" name="Text 11"/>
          <p:cNvSpPr/>
          <p:nvPr/>
        </p:nvSpPr>
        <p:spPr>
          <a:xfrm>
            <a:off x="6904758" y="2146697"/>
            <a:ext cx="1917553" cy="910431"/>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High Cost</a:t>
            </a:r>
            <a:r>
              <a:rPr lang="en-US" sz="1400" dirty="0">
                <a:solidFill>
                  <a:srgbClr val="EBEDF0"/>
                </a:solidFill>
                <a:latin typeface="Abadi" panose="020B0604020104020204" pitchFamily="34" charset="0"/>
                <a:ea typeface="Geist" pitchFamily="34" charset="-122"/>
                <a:cs typeface="Geist" pitchFamily="34" charset="-120"/>
              </a:rPr>
              <a:t> — significant capital investment required for quality sensor systems</a:t>
            </a:r>
            <a:endParaRPr lang="en-US" sz="1400" dirty="0"/>
          </a:p>
        </p:txBody>
      </p:sp>
      <p:pic>
        <p:nvPicPr>
          <p:cNvPr id="20" name="Image 6"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02894" y="2128639"/>
            <a:ext cx="269273" cy="269280"/>
          </a:xfrm>
          <a:prstGeom prst="rect">
            <a:avLst/>
          </a:prstGeom>
        </p:spPr>
      </p:pic>
      <p:sp>
        <p:nvSpPr>
          <p:cNvPr id="21" name="Text 12"/>
          <p:cNvSpPr/>
          <p:nvPr/>
        </p:nvSpPr>
        <p:spPr>
          <a:xfrm>
            <a:off x="9619017" y="2146697"/>
            <a:ext cx="1917553" cy="1365647"/>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Sensor Noise</a:t>
            </a:r>
            <a:r>
              <a:rPr lang="en-US" sz="1400" dirty="0">
                <a:solidFill>
                  <a:srgbClr val="EBEDF0"/>
                </a:solidFill>
                <a:latin typeface="Abadi" panose="020B0604020104020204" pitchFamily="34" charset="0"/>
                <a:ea typeface="Geist" pitchFamily="34" charset="-122"/>
                <a:cs typeface="Geist" pitchFamily="34" charset="-120"/>
              </a:rPr>
              <a:t> — environmental interference and measurement uncertainty affect accuracy</a:t>
            </a:r>
            <a:endParaRPr lang="en-US" sz="1400" dirty="0"/>
          </a:p>
        </p:txBody>
      </p:sp>
      <p:pic>
        <p:nvPicPr>
          <p:cNvPr id="22" name="Image 7"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8635" y="3835400"/>
            <a:ext cx="269273" cy="269280"/>
          </a:xfrm>
          <a:prstGeom prst="rect">
            <a:avLst/>
          </a:prstGeom>
        </p:spPr>
      </p:pic>
      <p:sp>
        <p:nvSpPr>
          <p:cNvPr id="23" name="Text 13"/>
          <p:cNvSpPr/>
          <p:nvPr/>
        </p:nvSpPr>
        <p:spPr>
          <a:xfrm>
            <a:off x="6904758" y="3853458"/>
            <a:ext cx="1917553" cy="1138039"/>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Environmental Limits</a:t>
            </a:r>
            <a:r>
              <a:rPr lang="en-US" sz="1400" dirty="0">
                <a:solidFill>
                  <a:srgbClr val="EBEDF0"/>
                </a:solidFill>
                <a:latin typeface="Abadi" panose="020B0604020104020204" pitchFamily="34" charset="0"/>
                <a:ea typeface="Geist" pitchFamily="34" charset="-122"/>
                <a:cs typeface="Geist" pitchFamily="34" charset="-120"/>
              </a:rPr>
              <a:t> — performance degradation in adverse weather and lighting conditions</a:t>
            </a:r>
            <a:endParaRPr lang="en-US" sz="1400" dirty="0"/>
          </a:p>
        </p:txBody>
      </p:sp>
      <p:pic>
        <p:nvPicPr>
          <p:cNvPr id="24" name="Image 8"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02894" y="3835400"/>
            <a:ext cx="269273" cy="269280"/>
          </a:xfrm>
          <a:prstGeom prst="rect">
            <a:avLst/>
          </a:prstGeom>
        </p:spPr>
      </p:pic>
      <p:sp>
        <p:nvSpPr>
          <p:cNvPr id="25" name="Text 14"/>
          <p:cNvSpPr/>
          <p:nvPr/>
        </p:nvSpPr>
        <p:spPr>
          <a:xfrm>
            <a:off x="9619017" y="3853458"/>
            <a:ext cx="1917553" cy="1138039"/>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GPS Limitations</a:t>
            </a:r>
            <a:r>
              <a:rPr lang="en-US" sz="1400" dirty="0">
                <a:solidFill>
                  <a:srgbClr val="EBEDF0"/>
                </a:solidFill>
                <a:latin typeface="Abadi" panose="020B0604020104020204" pitchFamily="34" charset="0"/>
                <a:ea typeface="Geist" pitchFamily="34" charset="-122"/>
                <a:cs typeface="Geist" pitchFamily="34" charset="-120"/>
              </a:rPr>
              <a:t> — satellite signals unavailable in indoor and underground environments</a:t>
            </a:r>
            <a:endParaRPr lang="en-US" sz="1400" dirty="0"/>
          </a:p>
        </p:txBody>
      </p:sp>
      <p:pic>
        <p:nvPicPr>
          <p:cNvPr id="26" name="Image 9"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8635" y="5314553"/>
            <a:ext cx="269273" cy="269280"/>
          </a:xfrm>
          <a:prstGeom prst="rect">
            <a:avLst/>
          </a:prstGeom>
        </p:spPr>
      </p:pic>
      <p:sp>
        <p:nvSpPr>
          <p:cNvPr id="27" name="Text 15"/>
          <p:cNvSpPr/>
          <p:nvPr/>
        </p:nvSpPr>
        <p:spPr>
          <a:xfrm>
            <a:off x="6904758" y="5332611"/>
            <a:ext cx="4631812" cy="682823"/>
          </a:xfrm>
          <a:prstGeom prst="rect">
            <a:avLst/>
          </a:prstGeom>
          <a:noFill/>
          <a:ln/>
        </p:spPr>
        <p:txBody>
          <a:bodyPr wrap="square" lIns="0" tIns="0" rIns="0" bIns="0" rtlCol="0" anchor="t">
            <a:normAutofit/>
          </a:bodyPr>
          <a:lstStyle/>
          <a:p>
            <a:pPr marL="0" indent="0" algn="l">
              <a:lnSpc>
                <a:spcPct val="106000"/>
              </a:lnSpc>
              <a:buNone/>
            </a:pPr>
            <a:r>
              <a:rPr lang="en-US" sz="1400" b="1" dirty="0">
                <a:solidFill>
                  <a:srgbClr val="EBEDF0"/>
                </a:solidFill>
                <a:latin typeface="Abadi" panose="020B0604020104020204" pitchFamily="34" charset="0"/>
                <a:ea typeface="Geist Bold" pitchFamily="34" charset="-122"/>
                <a:cs typeface="Geist Bold" pitchFamily="34" charset="-120"/>
              </a:rPr>
              <a:t>Processing Demand</a:t>
            </a:r>
            <a:r>
              <a:rPr lang="en-US" sz="1400" dirty="0">
                <a:solidFill>
                  <a:srgbClr val="EBEDF0"/>
                </a:solidFill>
                <a:latin typeface="Abadi" panose="020B0604020104020204" pitchFamily="34" charset="0"/>
                <a:ea typeface="Geist" pitchFamily="34" charset="-122"/>
                <a:cs typeface="Geist" pitchFamily="34" charset="-120"/>
              </a:rPr>
              <a:t> — substantial computational resources required for real-time processing and calibration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F8DAB-C6C5-9720-0FEE-8C78E38AF7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FB223E9-1F8E-4D12-186E-577509004882}"/>
              </a:ext>
            </a:extLst>
          </p:cNvPr>
          <p:cNvSpPr/>
          <p:nvPr/>
        </p:nvSpPr>
        <p:spPr>
          <a:xfrm>
            <a:off x="661475" y="650677"/>
            <a:ext cx="10868745" cy="583605"/>
          </a:xfrm>
          <a:prstGeom prst="rect">
            <a:avLst/>
          </a:prstGeom>
          <a:noFill/>
          <a:ln/>
        </p:spPr>
        <p:txBody>
          <a:bodyPr wrap="none" lIns="0" tIns="0" rIns="0" bIns="0" rtlCol="0" anchor="t"/>
          <a:lstStyle/>
          <a:p>
            <a:pPr marL="0" indent="0" algn="l">
              <a:lnSpc>
                <a:spcPct val="108000"/>
              </a:lnSpc>
              <a:buNone/>
            </a:pPr>
            <a:r>
              <a:rPr lang="en-US" sz="3500" b="1" kern="0" spc="-71" dirty="0">
                <a:solidFill>
                  <a:srgbClr val="F2F5FA"/>
                </a:solidFill>
                <a:latin typeface="Abadi" panose="020B0604020104020204" pitchFamily="34" charset="0"/>
                <a:ea typeface="Geist Bold" pitchFamily="34" charset="-122"/>
                <a:cs typeface="Geist Bold" pitchFamily="34" charset="-120"/>
              </a:rPr>
              <a:t>CONCLUSION</a:t>
            </a:r>
            <a:endParaRPr lang="en-US" sz="3500" dirty="0"/>
          </a:p>
        </p:txBody>
      </p:sp>
      <p:sp>
        <p:nvSpPr>
          <p:cNvPr id="3" name="Shape 1">
            <a:extLst>
              <a:ext uri="{FF2B5EF4-FFF2-40B4-BE49-F238E27FC236}">
                <a16:creationId xmlns:a16="http://schemas.microsoft.com/office/drawing/2014/main" id="{8739CAA1-4DE8-A2FF-012A-0518AE3EC6FA}"/>
              </a:ext>
            </a:extLst>
          </p:cNvPr>
          <p:cNvSpPr/>
          <p:nvPr/>
        </p:nvSpPr>
        <p:spPr>
          <a:xfrm>
            <a:off x="532097" y="1299543"/>
            <a:ext cx="10701960" cy="4909542"/>
          </a:xfrm>
          <a:prstGeom prst="roundRect">
            <a:avLst>
              <a:gd name="adj" fmla="val 2741"/>
            </a:avLst>
          </a:prstGeom>
          <a:solidFill>
            <a:srgbClr val="1F2A5D">
              <a:alpha val="95000"/>
            </a:srgbClr>
          </a:solidFill>
          <a:ln/>
        </p:spPr>
        <p:txBody>
          <a:bodyPr/>
          <a:lstStyle/>
          <a:p>
            <a:endParaRPr lang="en-IN" dirty="0"/>
          </a:p>
        </p:txBody>
      </p:sp>
      <p:pic>
        <p:nvPicPr>
          <p:cNvPr id="14" name="Image 4" descr="preencoded.png">
            <a:extLst>
              <a:ext uri="{FF2B5EF4-FFF2-40B4-BE49-F238E27FC236}">
                <a16:creationId xmlns:a16="http://schemas.microsoft.com/office/drawing/2014/main" id="{68209A53-1B1E-201A-460B-4C44C4016B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2097" y="4481763"/>
            <a:ext cx="269273" cy="269280"/>
          </a:xfrm>
          <a:prstGeom prst="rect">
            <a:avLst/>
          </a:prstGeom>
        </p:spPr>
      </p:pic>
      <p:sp>
        <p:nvSpPr>
          <p:cNvPr id="15" name="Text 8">
            <a:extLst>
              <a:ext uri="{FF2B5EF4-FFF2-40B4-BE49-F238E27FC236}">
                <a16:creationId xmlns:a16="http://schemas.microsoft.com/office/drawing/2014/main" id="{987C1168-5C03-E030-4715-DDE904FDB942}"/>
              </a:ext>
            </a:extLst>
          </p:cNvPr>
          <p:cNvSpPr/>
          <p:nvPr/>
        </p:nvSpPr>
        <p:spPr>
          <a:xfrm>
            <a:off x="861047" y="1501775"/>
            <a:ext cx="10088268" cy="4488478"/>
          </a:xfrm>
          <a:prstGeom prst="rect">
            <a:avLst/>
          </a:prstGeom>
          <a:noFill/>
          <a:ln/>
        </p:spPr>
        <p:txBody>
          <a:bodyPr wrap="square" lIns="0" tIns="0" rIns="0" bIns="0" rtlCol="0" anchor="t">
            <a:normAutofit/>
          </a:bodyPr>
          <a:lstStyle/>
          <a:p>
            <a:r>
              <a:rPr lang="en-IN" sz="1400" dirty="0">
                <a:solidFill>
                  <a:schemeClr val="bg1"/>
                </a:solidFill>
              </a:rPr>
              <a:t>Sensor-based navigation represents a fundamental capability for autonomous systems operating in real-world environments. Through the integration of multiple sensing modalities, sophisticated data processing algorithms, and intelligent decision-making frameworks, robots and autonomous vehicles can perceive their surroundings, determine their position, and navigate safely without human intervention.</a:t>
            </a:r>
          </a:p>
          <a:p>
            <a:endParaRPr lang="en-IN" sz="1400" b="1" dirty="0">
              <a:solidFill>
                <a:schemeClr val="bg1"/>
              </a:solidFill>
            </a:endParaRPr>
          </a:p>
          <a:p>
            <a:r>
              <a:rPr lang="en-IN" sz="1600" b="1" dirty="0">
                <a:solidFill>
                  <a:schemeClr val="bg1"/>
                </a:solidFill>
              </a:rPr>
              <a:t>Key Takeaways</a:t>
            </a:r>
            <a:endParaRPr lang="en-IN" sz="1400" b="1" dirty="0">
              <a:solidFill>
                <a:schemeClr val="bg1"/>
              </a:solidFill>
            </a:endParaRPr>
          </a:p>
          <a:p>
            <a:r>
              <a:rPr lang="en-IN" sz="1400" dirty="0">
                <a:solidFill>
                  <a:schemeClr val="bg1"/>
                </a:solidFill>
              </a:rPr>
              <a:t>Sensors provide the critical sensory input that enables autonomous perception and awareness</a:t>
            </a:r>
          </a:p>
          <a:p>
            <a:r>
              <a:rPr lang="en-IN" sz="1400" dirty="0">
                <a:solidFill>
                  <a:schemeClr val="bg1"/>
                </a:solidFill>
              </a:rPr>
              <a:t>Individual sensors have inherent limitations; sensor fusion overcomes these constraints</a:t>
            </a:r>
          </a:p>
          <a:p>
            <a:r>
              <a:rPr lang="en-IN" sz="1400" dirty="0">
                <a:solidFill>
                  <a:schemeClr val="bg1"/>
                </a:solidFill>
              </a:rPr>
              <a:t>The Kalman Filter and related algorithms optimally combine sensor data for accurate state estimation</a:t>
            </a:r>
          </a:p>
          <a:p>
            <a:r>
              <a:rPr lang="en-IN" sz="1400" dirty="0">
                <a:solidFill>
                  <a:schemeClr val="bg1"/>
                </a:solidFill>
              </a:rPr>
              <a:t>SLAM enables autonomous exploration and mapping of unknown environments</a:t>
            </a:r>
          </a:p>
          <a:p>
            <a:r>
              <a:rPr lang="en-IN" sz="1400" dirty="0">
                <a:solidFill>
                  <a:schemeClr val="bg1"/>
                </a:solidFill>
              </a:rPr>
              <a:t>Diverse navigation methods address different operational requirements and environmental conditions</a:t>
            </a:r>
          </a:p>
          <a:p>
            <a:r>
              <a:rPr lang="en-IN" sz="1400" dirty="0">
                <a:solidFill>
                  <a:schemeClr val="bg1"/>
                </a:solidFill>
              </a:rPr>
              <a:t>Real-world applications demonstrate the transformative impact of sensor-based navigation across industries</a:t>
            </a:r>
          </a:p>
          <a:p>
            <a:endParaRPr lang="en-IN" sz="1400" b="1" dirty="0">
              <a:solidFill>
                <a:schemeClr val="bg1"/>
              </a:solidFill>
            </a:endParaRPr>
          </a:p>
          <a:p>
            <a:endParaRPr lang="en-IN" sz="1400" b="1" dirty="0">
              <a:solidFill>
                <a:schemeClr val="bg1"/>
              </a:solidFill>
            </a:endParaRPr>
          </a:p>
          <a:p>
            <a:endParaRPr lang="en-IN" sz="1400" b="1" dirty="0">
              <a:solidFill>
                <a:schemeClr val="bg1"/>
              </a:solidFill>
            </a:endParaRPr>
          </a:p>
          <a:p>
            <a:r>
              <a:rPr lang="en-IN" sz="1400" b="1" dirty="0">
                <a:solidFill>
                  <a:schemeClr val="bg1"/>
                </a:solidFill>
              </a:rPr>
              <a:t>Future Directions</a:t>
            </a:r>
          </a:p>
          <a:p>
            <a:r>
              <a:rPr lang="en-IN" sz="1400" dirty="0">
                <a:solidFill>
                  <a:schemeClr val="bg1"/>
                </a:solidFill>
              </a:rPr>
              <a:t>Advances in sensor technology, machine learning, and distributed computing continue to enhance autonomous navigation capabilities. As these systems become more sophisticated and reliable, sensor-based navigation will enable increasingly autonomous and intelligent robotic systems across transportation, logistics, agriculture, and emergency response domains.</a:t>
            </a:r>
          </a:p>
          <a:p>
            <a:pPr marL="0" indent="0" algn="l">
              <a:lnSpc>
                <a:spcPct val="106000"/>
              </a:lnSpc>
              <a:buNone/>
            </a:pPr>
            <a:endParaRPr lang="en-US" sz="1400" dirty="0">
              <a:solidFill>
                <a:schemeClr val="bg1"/>
              </a:solidFill>
            </a:endParaRPr>
          </a:p>
        </p:txBody>
      </p:sp>
      <p:pic>
        <p:nvPicPr>
          <p:cNvPr id="29" name="Image 4" descr="preencoded.png">
            <a:extLst>
              <a:ext uri="{FF2B5EF4-FFF2-40B4-BE49-F238E27FC236}">
                <a16:creationId xmlns:a16="http://schemas.microsoft.com/office/drawing/2014/main" id="{364F4CF3-4E63-0ACE-0243-DEA40C844A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944" y="2331346"/>
            <a:ext cx="269273" cy="269280"/>
          </a:xfrm>
          <a:prstGeom prst="rect">
            <a:avLst/>
          </a:prstGeom>
        </p:spPr>
      </p:pic>
    </p:spTree>
    <p:extLst>
      <p:ext uri="{BB962C8B-B14F-4D97-AF65-F5344CB8AC3E}">
        <p14:creationId xmlns:p14="http://schemas.microsoft.com/office/powerpoint/2010/main" val="241028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AD9C4-F122-06D9-18F1-66D5A61FBC22}"/>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4A575EBD-5A9B-EFBC-DCCF-11585F5AFA1F}"/>
              </a:ext>
            </a:extLst>
          </p:cNvPr>
          <p:cNvSpPr txBox="1"/>
          <p:nvPr/>
        </p:nvSpPr>
        <p:spPr>
          <a:xfrm>
            <a:off x="4282750" y="2556588"/>
            <a:ext cx="2864499" cy="707886"/>
          </a:xfrm>
          <a:prstGeom prst="rect">
            <a:avLst/>
          </a:prstGeom>
          <a:noFill/>
        </p:spPr>
        <p:txBody>
          <a:bodyPr wrap="square" rtlCol="0">
            <a:spAutoFit/>
          </a:bodyPr>
          <a:lstStyle/>
          <a:p>
            <a:r>
              <a:rPr lang="en-IN" sz="4000" dirty="0">
                <a:highlight>
                  <a:srgbClr val="C0C0C0"/>
                </a:highlight>
              </a:rPr>
              <a:t>THANK YOU</a:t>
            </a:r>
          </a:p>
        </p:txBody>
      </p:sp>
      <p:sp>
        <p:nvSpPr>
          <p:cNvPr id="29" name="TextBox 28">
            <a:extLst>
              <a:ext uri="{FF2B5EF4-FFF2-40B4-BE49-F238E27FC236}">
                <a16:creationId xmlns:a16="http://schemas.microsoft.com/office/drawing/2014/main" id="{353A6261-E6FB-E2F9-7068-DA1AEF901BC6}"/>
              </a:ext>
            </a:extLst>
          </p:cNvPr>
          <p:cNvSpPr txBox="1"/>
          <p:nvPr/>
        </p:nvSpPr>
        <p:spPr>
          <a:xfrm>
            <a:off x="8817429" y="4981746"/>
            <a:ext cx="2537926" cy="923330"/>
          </a:xfrm>
          <a:prstGeom prst="rect">
            <a:avLst/>
          </a:prstGeom>
          <a:noFill/>
        </p:spPr>
        <p:txBody>
          <a:bodyPr wrap="square" rtlCol="0">
            <a:spAutoFit/>
          </a:bodyPr>
          <a:lstStyle/>
          <a:p>
            <a:r>
              <a:rPr lang="en-IN" dirty="0">
                <a:solidFill>
                  <a:schemeClr val="bg1"/>
                </a:solidFill>
              </a:rPr>
              <a:t>TEACHER  SIGN</a:t>
            </a:r>
          </a:p>
          <a:p>
            <a:endParaRPr lang="en-IN" dirty="0"/>
          </a:p>
          <a:p>
            <a:r>
              <a:rPr lang="en-IN" dirty="0">
                <a:solidFill>
                  <a:schemeClr val="bg1"/>
                </a:solidFill>
              </a:rPr>
              <a:t>---------------------</a:t>
            </a:r>
          </a:p>
        </p:txBody>
      </p:sp>
    </p:spTree>
    <p:extLst>
      <p:ext uri="{BB962C8B-B14F-4D97-AF65-F5344CB8AC3E}">
        <p14:creationId xmlns:p14="http://schemas.microsoft.com/office/powerpoint/2010/main" val="4264057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1293</Words>
  <Application>Microsoft Office PowerPoint</Application>
  <PresentationFormat>Widescreen</PresentationFormat>
  <Paragraphs>170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yashraj</dc:creator>
  <cp:lastModifiedBy>Anupam Das</cp:lastModifiedBy>
  <cp:revision>6</cp:revision>
  <dcterms:created xsi:type="dcterms:W3CDTF">2026-09-02T18:24:22Z</dcterms:created>
  <dcterms:modified xsi:type="dcterms:W3CDTF">2026-09-03T07:35:16Z</dcterms:modified>
</cp:coreProperties>
</file>