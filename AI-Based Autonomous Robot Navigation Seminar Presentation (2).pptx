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D6A4B-130E-7F49-9961-FA65A61794E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2F651-B4E3-9945-BF32-623BCF7EA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2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5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 /><Relationship Id="rId3" Type="http://schemas.openxmlformats.org/officeDocument/2006/relationships/image" Target="../media/image6.png" /><Relationship Id="rId7" Type="http://schemas.openxmlformats.org/officeDocument/2006/relationships/image" Target="../media/image10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9" Type="http://schemas.openxmlformats.org/officeDocument/2006/relationships/image" Target="../media/image12.jpe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 /><Relationship Id="rId3" Type="http://schemas.openxmlformats.org/officeDocument/2006/relationships/image" Target="../media/image6.png" /><Relationship Id="rId7" Type="http://schemas.openxmlformats.org/officeDocument/2006/relationships/image" Target="../media/image1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11" Type="http://schemas.openxmlformats.org/officeDocument/2006/relationships/image" Target="../media/image20.png" /><Relationship Id="rId5" Type="http://schemas.openxmlformats.org/officeDocument/2006/relationships/image" Target="../media/image14.png" /><Relationship Id="rId10" Type="http://schemas.openxmlformats.org/officeDocument/2006/relationships/image" Target="../media/image19.png" /><Relationship Id="rId4" Type="http://schemas.openxmlformats.org/officeDocument/2006/relationships/image" Target="../media/image13.png" /><Relationship Id="rId9" Type="http://schemas.openxmlformats.org/officeDocument/2006/relationships/image" Target="../media/image18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png" /><Relationship Id="rId5" Type="http://schemas.openxmlformats.org/officeDocument/2006/relationships/image" Target="../media/image22.jpeg" /><Relationship Id="rId4" Type="http://schemas.openxmlformats.org/officeDocument/2006/relationships/image" Target="../media/image21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7" Type="http://schemas.openxmlformats.org/officeDocument/2006/relationships/image" Target="../media/image27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6.png" /><Relationship Id="rId5" Type="http://schemas.openxmlformats.org/officeDocument/2006/relationships/image" Target="../media/image25.png" /><Relationship Id="rId4" Type="http://schemas.openxmlformats.org/officeDocument/2006/relationships/image" Target="../media/image24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 /><Relationship Id="rId3" Type="http://schemas.openxmlformats.org/officeDocument/2006/relationships/image" Target="../media/image6.png" /><Relationship Id="rId7" Type="http://schemas.openxmlformats.org/officeDocument/2006/relationships/image" Target="../media/image3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0.png" /><Relationship Id="rId5" Type="http://schemas.openxmlformats.org/officeDocument/2006/relationships/image" Target="../media/image29.png" /><Relationship Id="rId4" Type="http://schemas.openxmlformats.org/officeDocument/2006/relationships/image" Target="../media/image28.png" /><Relationship Id="rId9" Type="http://schemas.openxmlformats.org/officeDocument/2006/relationships/image" Target="../media/image33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 /><Relationship Id="rId3" Type="http://schemas.openxmlformats.org/officeDocument/2006/relationships/image" Target="../media/image6.png" /><Relationship Id="rId7" Type="http://schemas.openxmlformats.org/officeDocument/2006/relationships/image" Target="../media/image37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6.png" /><Relationship Id="rId5" Type="http://schemas.openxmlformats.org/officeDocument/2006/relationships/image" Target="../media/image35.png" /><Relationship Id="rId10" Type="http://schemas.openxmlformats.org/officeDocument/2006/relationships/image" Target="../media/image40.png" /><Relationship Id="rId4" Type="http://schemas.openxmlformats.org/officeDocument/2006/relationships/image" Target="../media/image34.png" /><Relationship Id="rId9" Type="http://schemas.openxmlformats.org/officeDocument/2006/relationships/image" Target="../media/image39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2.png" /><Relationship Id="rId4" Type="http://schemas.openxmlformats.org/officeDocument/2006/relationships/image" Target="../media/image41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 /><Relationship Id="rId3" Type="http://schemas.openxmlformats.org/officeDocument/2006/relationships/image" Target="../media/image6.png" /><Relationship Id="rId7" Type="http://schemas.openxmlformats.org/officeDocument/2006/relationships/image" Target="../media/image46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5.png" /><Relationship Id="rId5" Type="http://schemas.openxmlformats.org/officeDocument/2006/relationships/image" Target="../media/image44.png" /><Relationship Id="rId4" Type="http://schemas.openxmlformats.org/officeDocument/2006/relationships/image" Target="../media/image4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1.png" /><Relationship Id="rId5" Type="http://schemas.openxmlformats.org/officeDocument/2006/relationships/image" Target="../media/image50.png" /><Relationship Id="rId4" Type="http://schemas.openxmlformats.org/officeDocument/2006/relationships/image" Target="../media/image49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7145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1428750"/>
            <a:ext cx="857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ENGINEERING SEMINAR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1047750" y="2190750"/>
            <a:ext cx="8953500" cy="1562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8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BASED AUTONOMOUS ROBOT NAVIGATION</a:t>
            </a:r>
            <a:endParaRPr lang="en-US" sz="5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5905500"/>
            <a:ext cx="2476500" cy="57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7750" y="6334125"/>
            <a:ext cx="476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047750" y="6810375"/>
            <a:ext cx="4191000" cy="1771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0F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Atharva Kadam — 23</a:t>
            </a:r>
            <a:endParaRPr lang="en-US" sz="22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0F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Aryan Kochale — 31</a:t>
            </a:r>
            <a:endParaRPr lang="en-US" sz="22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0F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Rishit Kotian — 35</a:t>
            </a:r>
            <a:endParaRPr lang="en-US" sz="22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2250" dirty="0">
                <a:solidFill>
                  <a:srgbClr val="0F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Aaryan Lad — 36</a:t>
            </a:r>
            <a:endParaRPr lang="en-US" sz="2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1428750"/>
            <a:ext cx="7239000" cy="74295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2750" y="1809750"/>
            <a:ext cx="6667500" cy="666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  —  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85875"/>
            <a:ext cx="11430000" cy="942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9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</a:t>
            </a:r>
            <a:endParaRPr lang="en-US" sz="4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238375"/>
            <a:ext cx="1714500" cy="47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629" y="2491645"/>
            <a:ext cx="8382000" cy="1438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autonomous robot is a machine that can sense its surroundings and move on its own — without any human driver or remote control.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00113" y="4135565"/>
            <a:ext cx="9197264" cy="1870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63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 navigation means finding a safe, collision-free path from a start point to a destination. AI helps the robot understand sensor data, make smart real-time decisions, and adapt when the environment changes.</a:t>
            </a:r>
            <a:endParaRPr lang="en-US" sz="2633" dirty="0"/>
          </a:p>
        </p:txBody>
      </p:sp>
      <p:sp>
        <p:nvSpPr>
          <p:cNvPr id="7" name="Text 4"/>
          <p:cNvSpPr/>
          <p:nvPr/>
        </p:nvSpPr>
        <p:spPr>
          <a:xfrm>
            <a:off x="1047664" y="6096000"/>
            <a:ext cx="5715086" cy="314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SIMPLE IDEA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6667500"/>
            <a:ext cx="1809750" cy="857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7750" y="6924675"/>
            <a:ext cx="1809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2857500" y="6924675"/>
            <a:ext cx="476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6667500"/>
            <a:ext cx="2190750" cy="857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33750" y="6924675"/>
            <a:ext cx="2190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5524500" y="6924675"/>
            <a:ext cx="476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6667500"/>
            <a:ext cx="1809750" cy="8572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00750" y="6924675"/>
            <a:ext cx="1809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DECIDE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7810500" y="6924675"/>
            <a:ext cx="476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2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0" y="6667500"/>
            <a:ext cx="1809750" cy="8572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86750" y="6924675"/>
            <a:ext cx="1809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</a:t>
            </a:r>
            <a:endParaRPr lang="en-US" sz="18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2857500"/>
            <a:ext cx="6667500" cy="5715000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3750" y="3143250"/>
            <a:ext cx="6096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  —  PROCESS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85875"/>
            <a:ext cx="142875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Does Autonomous Navigation Work?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90750"/>
            <a:ext cx="1714500" cy="47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762250"/>
            <a:ext cx="16192500" cy="971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robot repeats seven core steps in a continuous loop — sensing, perceiving, locating, deciding, planning, moving and learning from feedback — to reach its goal safely.</a:t>
            </a:r>
            <a:endParaRPr lang="en-US" sz="2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4095750"/>
            <a:ext cx="2095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7750" y="4524375"/>
            <a:ext cx="2095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SENSORS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4095750"/>
            <a:ext cx="2095500" cy="1428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81375" y="4524375"/>
            <a:ext cx="2095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PERCEPTION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095750"/>
            <a:ext cx="2095500" cy="142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15000" y="4561380"/>
            <a:ext cx="20955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LOCALIZATION</a:t>
            </a:r>
            <a:endParaRPr lang="en-US" sz="157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625" y="4095750"/>
            <a:ext cx="2095500" cy="14287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048625" y="4560408"/>
            <a:ext cx="2095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DECISION</a:t>
            </a:r>
            <a:endParaRPr lang="en-US" sz="16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82250" y="4095750"/>
            <a:ext cx="2095500" cy="14287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381679" y="4560408"/>
            <a:ext cx="20955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 PLANNING</a:t>
            </a:r>
            <a:endParaRPr lang="en-US" sz="1575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15875" y="4095750"/>
            <a:ext cx="2095500" cy="14287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715875" y="4580430"/>
            <a:ext cx="2095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MOTOR CONTROL</a:t>
            </a:r>
            <a:endParaRPr lang="en-US" sz="15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49500" y="4095750"/>
            <a:ext cx="2095500" cy="14287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5049500" y="4524375"/>
            <a:ext cx="2095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</a:t>
            </a:r>
            <a:endParaRPr lang="en-US" sz="18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750" y="6191250"/>
            <a:ext cx="16097250" cy="3810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047750" y="6477000"/>
            <a:ext cx="16097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↻  The loop repeats continuously — feedback returns to sensing so the robot keeps adapting in real time.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  —  HARDWARE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85875"/>
            <a:ext cx="13335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Sensors Used by Autonomous Robots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90750"/>
            <a:ext cx="1714500" cy="476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857500"/>
            <a:ext cx="5143500" cy="5905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143250"/>
            <a:ext cx="4572000" cy="5334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28750" y="3048000"/>
            <a:ext cx="4572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📷  Camera</a:t>
            </a:r>
            <a:endParaRPr lang="en-US" sz="2250" dirty="0"/>
          </a:p>
        </p:txBody>
      </p:sp>
      <p:sp>
        <p:nvSpPr>
          <p:cNvPr id="8" name="Text 3"/>
          <p:cNvSpPr/>
          <p:nvPr/>
        </p:nvSpPr>
        <p:spPr>
          <a:xfrm>
            <a:off x="1066619" y="3551977"/>
            <a:ext cx="4934121" cy="400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Sees objects, signs, colours and lanes.</a:t>
            </a:r>
            <a:endParaRPr lang="en-US" sz="2104" dirty="0"/>
          </a:p>
        </p:txBody>
      </p:sp>
      <p:sp>
        <p:nvSpPr>
          <p:cNvPr id="9" name="Text 4"/>
          <p:cNvSpPr/>
          <p:nvPr/>
        </p:nvSpPr>
        <p:spPr>
          <a:xfrm>
            <a:off x="1428750" y="4143375"/>
            <a:ext cx="4572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📡  LiDAR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1047664" y="4510078"/>
            <a:ext cx="4953086" cy="804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exact distances using laser beams.</a:t>
            </a:r>
            <a:endParaRPr lang="en-US" sz="2113" dirty="0"/>
          </a:p>
        </p:txBody>
      </p:sp>
      <p:sp>
        <p:nvSpPr>
          <p:cNvPr id="11" name="Text 6"/>
          <p:cNvSpPr/>
          <p:nvPr/>
        </p:nvSpPr>
        <p:spPr>
          <a:xfrm>
            <a:off x="1428750" y="5238750"/>
            <a:ext cx="4572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🔊  Ultrasonic Sensor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1047664" y="5667327"/>
            <a:ext cx="4953086" cy="804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1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nearby obstacles at short range.</a:t>
            </a:r>
            <a:endParaRPr lang="en-US" sz="2113" dirty="0"/>
          </a:p>
        </p:txBody>
      </p:sp>
      <p:sp>
        <p:nvSpPr>
          <p:cNvPr id="13" name="Text 8"/>
          <p:cNvSpPr/>
          <p:nvPr/>
        </p:nvSpPr>
        <p:spPr>
          <a:xfrm>
            <a:off x="12287250" y="3048000"/>
            <a:ext cx="4572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🧭  IMU</a:t>
            </a:r>
            <a:endParaRPr lang="en-US" sz="2250" dirty="0"/>
          </a:p>
        </p:txBody>
      </p:sp>
      <p:sp>
        <p:nvSpPr>
          <p:cNvPr id="14" name="Text 9"/>
          <p:cNvSpPr/>
          <p:nvPr/>
        </p:nvSpPr>
        <p:spPr>
          <a:xfrm>
            <a:off x="12000929" y="3553044"/>
            <a:ext cx="5142976" cy="4178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9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motion, tilt and balance.</a:t>
            </a:r>
            <a:endParaRPr lang="en-US" sz="2194" dirty="0"/>
          </a:p>
        </p:txBody>
      </p:sp>
      <p:sp>
        <p:nvSpPr>
          <p:cNvPr id="15" name="Text 10"/>
          <p:cNvSpPr/>
          <p:nvPr/>
        </p:nvSpPr>
        <p:spPr>
          <a:xfrm>
            <a:off x="12287250" y="4143375"/>
            <a:ext cx="4572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🛰️  GPS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12000643" y="4525432"/>
            <a:ext cx="4858541" cy="789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7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Gives outdoor location on a global map.</a:t>
            </a:r>
            <a:endParaRPr lang="en-US" sz="2072" dirty="0"/>
          </a:p>
        </p:txBody>
      </p:sp>
      <p:sp>
        <p:nvSpPr>
          <p:cNvPr id="17" name="Text 12"/>
          <p:cNvSpPr/>
          <p:nvPr/>
        </p:nvSpPr>
        <p:spPr>
          <a:xfrm>
            <a:off x="12287250" y="5238750"/>
            <a:ext cx="4572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⚙️  Wheel Encoders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12000738" y="5620817"/>
            <a:ext cx="4858541" cy="789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7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wheel rotation and travel speed.</a:t>
            </a:r>
            <a:endParaRPr lang="en-US" sz="2072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500" y="8953500"/>
            <a:ext cx="9525000" cy="8572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39282" y="9010469"/>
            <a:ext cx="9525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FUSION — combining all sensor data for one accurate view of the world.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  —  INTELLIGENCE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85875"/>
            <a:ext cx="13335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 of AI in Autonomous Navigation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90750"/>
            <a:ext cx="1714500" cy="47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629" y="2648083"/>
            <a:ext cx="7429500" cy="923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turns raw sensor data into smart, safe action. It helps the robot to: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047750" y="3810000"/>
            <a:ext cx="7239000" cy="3476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90000"/>
              </a:lnSpc>
              <a:buSzPct val="100000"/>
              <a:buChar char="•"/>
            </a:pPr>
            <a:r>
              <a:rPr lang="en-US" sz="2400" dirty="0">
                <a:solidFill>
                  <a:srgbClr val="0F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 objects, people, signs and paths</a:t>
            </a:r>
            <a:endParaRPr lang="en-US" sz="2400" dirty="0"/>
          </a:p>
          <a:p>
            <a:pPr marL="342900" indent="-342900" algn="l">
              <a:lnSpc>
                <a:spcPct val="190000"/>
              </a:lnSpc>
              <a:buSzPct val="100000"/>
              <a:buChar char="•"/>
            </a:pPr>
            <a:r>
              <a:rPr lang="en-US" sz="2400" dirty="0">
                <a:solidFill>
                  <a:srgbClr val="0F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surrounding scene and context</a:t>
            </a:r>
            <a:endParaRPr lang="en-US" sz="2400" dirty="0"/>
          </a:p>
          <a:p>
            <a:pPr marL="342900" indent="-342900" algn="l">
              <a:lnSpc>
                <a:spcPct val="190000"/>
              </a:lnSpc>
              <a:buSzPct val="100000"/>
              <a:buChar char="•"/>
            </a:pPr>
            <a:r>
              <a:rPr lang="en-US" sz="2400" dirty="0">
                <a:solidFill>
                  <a:srgbClr val="0F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the safest and shortest route to follow</a:t>
            </a:r>
            <a:endParaRPr lang="en-US" sz="2400" dirty="0"/>
          </a:p>
          <a:p>
            <a:pPr marL="342900" indent="-342900" algn="l">
              <a:lnSpc>
                <a:spcPct val="190000"/>
              </a:lnSpc>
              <a:buSzPct val="100000"/>
              <a:buChar char="•"/>
            </a:pPr>
            <a:r>
              <a:rPr lang="en-US" sz="2400" dirty="0">
                <a:solidFill>
                  <a:srgbClr val="0F2B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 instantly to moving obstacles and changes</a:t>
            </a:r>
            <a:endParaRPr lang="en-US" sz="2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0" y="3143250"/>
            <a:ext cx="2857500" cy="1238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20250" y="3571875"/>
            <a:ext cx="285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SENSOR DATA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11049000" y="4524375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3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0" y="5048250"/>
            <a:ext cx="2857500" cy="1238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20250" y="5476875"/>
            <a:ext cx="2857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/ ML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11049000" y="6429375"/>
            <a:ext cx="95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3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0" y="6953250"/>
            <a:ext cx="2857500" cy="12382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20250" y="7381875"/>
            <a:ext cx="2857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</a:t>
            </a:r>
            <a:endParaRPr lang="en-US" sz="2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0" y="6953250"/>
            <a:ext cx="2857500" cy="1238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668250" y="7381875"/>
            <a:ext cx="762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Text 10"/>
          <p:cNvSpPr/>
          <p:nvPr/>
        </p:nvSpPr>
        <p:spPr>
          <a:xfrm>
            <a:off x="13335000" y="7381875"/>
            <a:ext cx="2857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  —  SLAM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85875"/>
            <a:ext cx="13335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Mapping and Localization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90750"/>
            <a:ext cx="1714500" cy="47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857500"/>
            <a:ext cx="7429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MAPPING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047750" y="3286125"/>
            <a:ext cx="74295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a map of the area — walls, rooms and obstacles.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47750" y="4191000"/>
            <a:ext cx="7429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LOCALIZATION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047750" y="4619625"/>
            <a:ext cx="7429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Knowing exactly where the robot is on that map.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47750" y="5524500"/>
            <a:ext cx="7429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SLAM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047750" y="5953125"/>
            <a:ext cx="7429500" cy="1543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2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Simultaneous Localization And Mapping — the robot builds the map and finds its own position at the same time. Example: a vacuum robot mapping a new home while cleaning it.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936012" y="7757636"/>
            <a:ext cx="7874641" cy="35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6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Robot + Sensors  →  Environment  →  Map  →  Location</a:t>
            </a:r>
            <a:endParaRPr lang="en-US" sz="186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2857500"/>
            <a:ext cx="7620000" cy="5905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10750" y="3048000"/>
            <a:ext cx="7048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TOP-VIEW MAP</a:t>
            </a:r>
            <a:endParaRPr lang="en-US" sz="15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0" y="3714750"/>
            <a:ext cx="6286500" cy="457200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0" y="4286250"/>
            <a:ext cx="1714500" cy="1143000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01750" y="6572250"/>
            <a:ext cx="1428750" cy="114300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0" y="4191000"/>
            <a:ext cx="1047750" cy="104775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39500" y="6572250"/>
            <a:ext cx="857250" cy="8572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953750" y="7477125"/>
            <a:ext cx="14287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ROBOT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  —  PLANNING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85875"/>
            <a:ext cx="133350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 Planning &amp; Obstacle Avoidance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90750"/>
            <a:ext cx="1714500" cy="476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857500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PLANNING METHODS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47750" y="3429000"/>
            <a:ext cx="6667500" cy="31051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A*  —  fast, efficient shortest-path search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Dijkstra  —  guaranteed shortest route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RRT  —  quick paths in complex, cluttered spaces</a:t>
            </a:r>
            <a:endParaRPr lang="en-US" sz="24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4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/ ML  —  learns from experience and improves routes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47750" y="6734175"/>
            <a:ext cx="666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OBSTACLE AVOIDANCE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47750" y="7238819"/>
            <a:ext cx="7239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 → ANALYZE → DECIDE → AVOID → CONTINUE</a:t>
            </a:r>
            <a:endParaRPr lang="en-US" sz="1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0" y="2857500"/>
            <a:ext cx="8096250" cy="5905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7239000"/>
            <a:ext cx="857250" cy="857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34500" y="8143875"/>
            <a:ext cx="12382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0" y="3429000"/>
            <a:ext cx="857250" cy="857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59000" y="4333875"/>
            <a:ext cx="200025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DESTINATION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8250" y="5334000"/>
            <a:ext cx="1143000" cy="1143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573000" y="6572250"/>
            <a:ext cx="13335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77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OBSTACLE</a:t>
            </a:r>
            <a:endParaRPr lang="en-US" sz="13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440000">
            <a:off x="10382250" y="6858000"/>
            <a:ext cx="4953000" cy="3810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2520000">
            <a:off x="10287000" y="7524750"/>
            <a:ext cx="2857500" cy="5715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080000">
            <a:off x="12668250" y="5143500"/>
            <a:ext cx="3143250" cy="571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001250" y="3143250"/>
            <a:ext cx="30480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planned path (blue)  ⋯ blocked (grey)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  —  IN THE REAL WORLD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85875"/>
            <a:ext cx="142875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Navigation &amp; Applications</a:t>
            </a:r>
            <a:endParaRPr lang="en-US" sz="4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90750"/>
            <a:ext cx="1714500" cy="476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2762250"/>
            <a:ext cx="16192500" cy="1047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62834" y="2951778"/>
            <a:ext cx="1543050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example: when a person suddenly steps in front, the robot instantly re-plans its path and moves safely around them — all within milliseconds.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047750" y="4191000"/>
            <a:ext cx="6667500" cy="3143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IT IS USED</a:t>
            </a:r>
            <a:endParaRPr lang="en-US" sz="16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4762500"/>
            <a:ext cx="5048250" cy="1714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28750" y="5143500"/>
            <a:ext cx="4286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🏭  Warehouse Robots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1263358" y="5714733"/>
            <a:ext cx="4814287" cy="417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9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goods automatically.</a:t>
            </a:r>
            <a:endParaRPr lang="en-US" sz="219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875" y="4762500"/>
            <a:ext cx="5048250" cy="1714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000875" y="5143500"/>
            <a:ext cx="4286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📦  Delivery Robots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7001799" y="5714733"/>
            <a:ext cx="4666945" cy="404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2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parcels to the door.</a:t>
            </a:r>
            <a:endParaRPr lang="en-US" sz="2123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4762500"/>
            <a:ext cx="5048250" cy="17145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573000" y="5143500"/>
            <a:ext cx="4286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🚗  Self-Driving Vehicles</a:t>
            </a:r>
            <a:endParaRPr lang="en-US" sz="2250" dirty="0"/>
          </a:p>
        </p:txBody>
      </p:sp>
      <p:sp>
        <p:nvSpPr>
          <p:cNvPr id="16" name="Text 9"/>
          <p:cNvSpPr/>
          <p:nvPr/>
        </p:nvSpPr>
        <p:spPr>
          <a:xfrm>
            <a:off x="12571952" y="5727382"/>
            <a:ext cx="4667488" cy="4045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2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with no human.</a:t>
            </a:r>
            <a:endParaRPr lang="en-US" sz="2123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6762750"/>
            <a:ext cx="5048250" cy="1714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428750" y="7143750"/>
            <a:ext cx="4286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🌾  Agricultural Robots</a:t>
            </a:r>
            <a:endParaRPr lang="en-US" sz="2250" dirty="0"/>
          </a:p>
        </p:txBody>
      </p:sp>
      <p:sp>
        <p:nvSpPr>
          <p:cNvPr id="19" name="Text 11"/>
          <p:cNvSpPr/>
          <p:nvPr/>
        </p:nvSpPr>
        <p:spPr>
          <a:xfrm>
            <a:off x="1263358" y="7715250"/>
            <a:ext cx="4648371" cy="402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1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 and harvest crops.</a:t>
            </a:r>
            <a:endParaRPr lang="en-US" sz="2115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875" y="6762750"/>
            <a:ext cx="5048250" cy="17145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000875" y="7143750"/>
            <a:ext cx="42862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🏥  Hospital Robots</a:t>
            </a:r>
            <a:endParaRPr lang="en-US" sz="2250" dirty="0"/>
          </a:p>
        </p:txBody>
      </p:sp>
      <p:sp>
        <p:nvSpPr>
          <p:cNvPr id="22" name="Text 13"/>
          <p:cNvSpPr/>
          <p:nvPr/>
        </p:nvSpPr>
        <p:spPr>
          <a:xfrm>
            <a:off x="6815795" y="7715250"/>
            <a:ext cx="4666945" cy="404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2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medicine &amp; supplies.</a:t>
            </a:r>
            <a:endParaRPr lang="en-US" sz="2123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6762750"/>
            <a:ext cx="5048250" cy="17145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12573000" y="7143750"/>
            <a:ext cx="4286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🚨  Search &amp; Rescue Robots</a:t>
            </a:r>
            <a:endParaRPr lang="en-US" sz="2100" dirty="0"/>
          </a:p>
        </p:txBody>
      </p:sp>
      <p:sp>
        <p:nvSpPr>
          <p:cNvPr id="25" name="Text 15"/>
          <p:cNvSpPr/>
          <p:nvPr/>
        </p:nvSpPr>
        <p:spPr>
          <a:xfrm>
            <a:off x="12571952" y="7716984"/>
            <a:ext cx="4656773" cy="40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dangerous areas.</a:t>
            </a:r>
            <a:endParaRPr lang="en-US" sz="211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  —  ANALYSIS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285875"/>
            <a:ext cx="142875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Advantages, Challenges &amp; Future Scope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90750"/>
            <a:ext cx="1714500" cy="476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2857500"/>
            <a:ext cx="5143500" cy="6096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2857500"/>
            <a:ext cx="5143500" cy="1333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28750" y="3286125"/>
            <a:ext cx="4381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6A3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ADVANTAGES</a:t>
            </a:r>
            <a:endParaRPr lang="en-US" sz="2250" dirty="0"/>
          </a:p>
        </p:txBody>
      </p:sp>
      <p:sp>
        <p:nvSpPr>
          <p:cNvPr id="8" name="Text 3"/>
          <p:cNvSpPr/>
          <p:nvPr/>
        </p:nvSpPr>
        <p:spPr>
          <a:xfrm>
            <a:off x="1428750" y="4000500"/>
            <a:ext cx="4381500" cy="2619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 Works without human control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 Higher accuracy and safety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 Saves time and cost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 Works 24/7 without tiring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  Reduces human error</a:t>
            </a:r>
            <a:endParaRPr lang="en-US" sz="2175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857500"/>
            <a:ext cx="5143500" cy="60960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2857500"/>
            <a:ext cx="5143500" cy="1333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953250" y="3286125"/>
            <a:ext cx="4381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D9770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CHALLENGES</a:t>
            </a:r>
            <a:endParaRPr lang="en-US" sz="2250" dirty="0"/>
          </a:p>
        </p:txBody>
      </p:sp>
      <p:sp>
        <p:nvSpPr>
          <p:cNvPr id="12" name="Text 5"/>
          <p:cNvSpPr/>
          <p:nvPr/>
        </p:nvSpPr>
        <p:spPr>
          <a:xfrm>
            <a:off x="6953250" y="4000500"/>
            <a:ext cx="4381500" cy="3676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Complex changing environments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High hardware cost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Sensor errors and noise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Needs heavy computing power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Safety in crowded places</a:t>
            </a:r>
            <a:endParaRPr lang="en-US" sz="2175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96750" y="2857500"/>
            <a:ext cx="5143500" cy="609600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96750" y="2857500"/>
            <a:ext cx="5143500" cy="13335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2477750" y="3286125"/>
            <a:ext cx="4381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60A5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FUTURE SCOPE</a:t>
            </a:r>
            <a:endParaRPr lang="en-US" sz="2250" dirty="0"/>
          </a:p>
        </p:txBody>
      </p:sp>
      <p:sp>
        <p:nvSpPr>
          <p:cNvPr id="16" name="Text 7"/>
          <p:cNvSpPr/>
          <p:nvPr/>
        </p:nvSpPr>
        <p:spPr>
          <a:xfrm>
            <a:off x="12477750" y="4000500"/>
            <a:ext cx="4381500" cy="2619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Smarter self-learning AI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Better multi-sensor fusion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Cheaper, faster hardware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Fully autonomous cities</a:t>
            </a:r>
            <a:endParaRPr lang="en-US" sz="2175" dirty="0"/>
          </a:p>
          <a:p>
            <a:pPr marL="0" indent="0" algn="l">
              <a:lnSpc>
                <a:spcPct val="190000"/>
              </a:lnSpc>
              <a:buNone/>
            </a:pPr>
            <a:r>
              <a:rPr lang="en-US" sz="21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 Wider use in daily life</a:t>
            </a:r>
            <a:endParaRPr lang="en-US" sz="21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11310652" y="1027128"/>
            <a:ext cx="6858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810000"/>
            <a:ext cx="3810000" cy="38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477024" y="4191000"/>
            <a:ext cx="13335000" cy="1857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75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9750" dirty="0"/>
          </a:p>
        </p:txBody>
      </p:sp>
      <p:sp>
        <p:nvSpPr>
          <p:cNvPr id="5" name="Text 1"/>
          <p:cNvSpPr/>
          <p:nvPr/>
        </p:nvSpPr>
        <p:spPr>
          <a:xfrm>
            <a:off x="4381500" y="5905500"/>
            <a:ext cx="952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i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 Questions?</a:t>
            </a:r>
            <a:endParaRPr lang="en-US" sz="3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0" y="8953500"/>
            <a:ext cx="3619500" cy="190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2954000" y="9144000"/>
            <a:ext cx="419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0F2B4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Prof. Sanchita Bhoi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12954000" y="9525000"/>
            <a:ext cx="4191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Signature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6235fe56-3439-477c-8e07-8ff9ca53e49d</dc:title>
  <dc:subject>Presentation Export</dc:subject>
  <dc:creator>Design Export</dc:creator>
  <cp:lastModifiedBy>Anupam Das</cp:lastModifiedBy>
  <cp:revision>2</cp:revision>
  <dcterms:created xsi:type="dcterms:W3CDTF">2026-09-02T18:17:32Z</dcterms:created>
  <dcterms:modified xsi:type="dcterms:W3CDTF">2026-09-03T07:22:31Z</dcterms:modified>
</cp:coreProperties>
</file>